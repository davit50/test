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8" r:id="rId3"/>
    <p:sldId id="269" r:id="rId4"/>
    <p:sldId id="270" r:id="rId5"/>
    <p:sldId id="271" r:id="rId6"/>
    <p:sldId id="272" r:id="rId7"/>
    <p:sldId id="273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630"/>
    <a:srgbClr val="52CBBE"/>
    <a:srgbClr val="FF5969"/>
    <a:srgbClr val="800000"/>
    <a:srgbClr val="F0EEF0"/>
    <a:srgbClr val="00A0A8"/>
    <a:srgbClr val="5D7373"/>
    <a:srgbClr val="52C9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>
      <p:cViewPr>
        <p:scale>
          <a:sx n="91" d="100"/>
          <a:sy n="91" d="100"/>
        </p:scale>
        <p:origin x="-523" y="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036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67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5361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403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377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331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195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00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898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663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7111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FAF59-80FD-42F8-B77B-6179688B7234}" type="datetimeFigureOut">
              <a:rPr lang="de-DE" smtClean="0"/>
              <a:t>17.04.2021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875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9EB0FD16-689C-476C-8309-C7173C257513}"/>
              </a:ext>
            </a:extLst>
          </p:cNvPr>
          <p:cNvSpPr txBox="1"/>
          <p:nvPr/>
        </p:nvSpPr>
        <p:spPr>
          <a:xfrm>
            <a:off x="3570089" y="816752"/>
            <a:ext cx="88163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6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Ածխածնի ալոտրոպ ձևափոխություններ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xmlns="" id="{312CB825-EAFB-4901-8C7E-D5477E0D31C8}"/>
              </a:ext>
            </a:extLst>
          </p:cNvPr>
          <p:cNvGrpSpPr/>
          <p:nvPr/>
        </p:nvGrpSpPr>
        <p:grpSpPr>
          <a:xfrm>
            <a:off x="4167439" y="3428999"/>
            <a:ext cx="6362477" cy="694284"/>
            <a:chOff x="4679586" y="878988"/>
            <a:chExt cx="1745757" cy="1905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xmlns="" id="{A88C5CD2-8D88-4E1A-968C-C3E256B4316C}"/>
                </a:ext>
              </a:extLst>
            </p:cNvPr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xmlns="" id="{39CA212B-3524-454E-9129-17FD0E8983F0}"/>
                </a:ext>
              </a:extLst>
            </p:cNvPr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xmlns="" id="{6487D07D-4424-43AA-9CF5-4A04A38B6C2D}"/>
                </a:ext>
              </a:extLst>
            </p:cNvPr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xmlns="" id="{51E021E3-C26E-4AB9-81EB-239E3D1BBAB2}"/>
                </a:ext>
              </a:extLst>
            </p:cNvPr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xmlns="" id="{85AD4D6E-2D38-486B-8F61-738D1E4773C2}"/>
                </a:ext>
              </a:extLst>
            </p:cNvPr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xmlns="" id="{D88F111D-10A0-4CCB-B20B-B33508AA6193}"/>
                </a:ext>
              </a:extLst>
            </p:cNvPr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C8A16B82-6A3C-46F5-8D32-072FDF89864A}"/>
              </a:ext>
            </a:extLst>
          </p:cNvPr>
          <p:cNvGrpSpPr/>
          <p:nvPr/>
        </p:nvGrpSpPr>
        <p:grpSpPr>
          <a:xfrm>
            <a:off x="-9302800" y="0"/>
            <a:ext cx="12482920" cy="6858000"/>
            <a:chOff x="-290920" y="0"/>
            <a:chExt cx="1248292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2F391CEE-E392-4A9D-BD11-6954B994FB4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7AC43ACA-5000-40E2-80D3-19833F9F1A3F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600" dirty="0" smtClean="0">
                  <a:solidFill>
                    <a:schemeClr val="bg1"/>
                  </a:solidFill>
                </a:rPr>
                <a:t>ալմաստ</a:t>
              </a:r>
              <a:endParaRPr lang="en-US" sz="36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xmlns="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69A27401-3327-4871-86AC-B461CA62C3AC}"/>
              </a:ext>
            </a:extLst>
          </p:cNvPr>
          <p:cNvGrpSpPr/>
          <p:nvPr/>
        </p:nvGrpSpPr>
        <p:grpSpPr>
          <a:xfrm>
            <a:off x="-8798784" y="0"/>
            <a:ext cx="11447501" cy="6858000"/>
            <a:chOff x="213096" y="0"/>
            <a:chExt cx="11447501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xmlns="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240700" y="3220383"/>
              <a:ext cx="21934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200" b="1" dirty="0" smtClean="0">
                  <a:solidFill>
                    <a:srgbClr val="F0EEF0"/>
                  </a:solidFill>
                </a:rPr>
                <a:t>գրաֆեն</a:t>
              </a:r>
              <a:endParaRPr lang="en-US" sz="3200" b="1" dirty="0">
                <a:solidFill>
                  <a:srgbClr val="F0EEF0"/>
                </a:solidFill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xmlns="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C0099890-786A-4F87-960D-5DADE5168909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xmlns="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xmlns="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9150859" y="3281939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400" b="1" dirty="0" smtClean="0">
                  <a:solidFill>
                    <a:schemeClr val="bg1"/>
                  </a:solidFill>
                </a:rPr>
                <a:t>լոնսդեյլիտ</a:t>
              </a:r>
              <a:endParaRPr lang="en-US" sz="24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xmlns="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xmlns="" id="{0E4F6447-6163-4D6A-A8D2-BD63B6CB3A42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xmlns="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xmlns="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746453" y="3220388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200" dirty="0">
                  <a:solidFill>
                    <a:schemeClr val="bg1"/>
                  </a:solidFill>
                </a:rPr>
                <a:t>Ֆուլերեն</a:t>
              </a:r>
              <a:endParaRPr lang="en-US" sz="20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xmlns="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xmlns="" id="{3FD3EE0D-FD02-4885-9AC0-03F414A9888F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xmlns="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xmlns="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948863" y="3267837"/>
              <a:ext cx="2477670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000" dirty="0">
                  <a:solidFill>
                    <a:schemeClr val="bg1"/>
                  </a:solidFill>
                </a:rPr>
                <a:t>նանոխողովակներ</a:t>
              </a:r>
              <a:endParaRPr lang="ru-RU" sz="2000" dirty="0">
                <a:solidFill>
                  <a:schemeClr val="bg1"/>
                </a:solidFill>
              </a:endParaRPr>
            </a:p>
            <a:p>
              <a:pPr algn="ctr"/>
              <a:endParaRPr lang="en-US" sz="300" dirty="0">
                <a:solidFill>
                  <a:schemeClr val="bg1"/>
                </a:solidFill>
              </a:endParaRP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xmlns="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xmlns="" id="{76789F00-2688-429D-926C-15F83152FDBE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xmlns="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xmlns="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600" b="1" dirty="0" smtClean="0">
                  <a:solidFill>
                    <a:srgbClr val="F0EEF0"/>
                  </a:solidFill>
                  <a:latin typeface="Tw Cen MT" panose="020B0602020104020603" pitchFamily="34" charset="0"/>
                </a:rPr>
                <a:t>վերջ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xmlns="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86610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18">
            <a:extLst>
              <a:ext uri="{FF2B5EF4-FFF2-40B4-BE49-F238E27FC236}">
                <a16:creationId xmlns:a16="http://schemas.microsoft.com/office/drawing/2014/main" xmlns="" id="{C8A16B82-6A3C-46F5-8D32-072FDF89864A}"/>
              </a:ext>
            </a:extLst>
          </p:cNvPr>
          <p:cNvGrpSpPr/>
          <p:nvPr/>
        </p:nvGrpSpPr>
        <p:grpSpPr>
          <a:xfrm>
            <a:off x="-290920" y="-1"/>
            <a:ext cx="12482920" cy="6858000"/>
            <a:chOff x="-290920" y="0"/>
            <a:chExt cx="12482920" cy="6858000"/>
          </a:xfrm>
        </p:grpSpPr>
        <p:sp>
          <p:nvSpPr>
            <p:cNvPr id="99" name="Rectangle 19">
              <a:extLst>
                <a:ext uri="{FF2B5EF4-FFF2-40B4-BE49-F238E27FC236}">
                  <a16:creationId xmlns:a16="http://schemas.microsoft.com/office/drawing/2014/main" xmlns="" id="{2F391CEE-E392-4A9D-BD11-6954B994FB4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: Shape 20">
              <a:extLst>
                <a:ext uri="{FF2B5EF4-FFF2-40B4-BE49-F238E27FC236}">
                  <a16:creationId xmlns:a16="http://schemas.microsoft.com/office/drawing/2014/main" xmlns="" id="{7AC43ACA-5000-40E2-80D3-19833F9F1A3F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xmlns="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600" dirty="0" smtClean="0">
                  <a:solidFill>
                    <a:schemeClr val="bg1"/>
                  </a:solidFill>
                </a:rPr>
                <a:t>ալմաստ</a:t>
              </a:r>
              <a:endParaRPr lang="en-US" sz="36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02" name="Picture 22">
              <a:extLst>
                <a:ext uri="{FF2B5EF4-FFF2-40B4-BE49-F238E27FC236}">
                  <a16:creationId xmlns:a16="http://schemas.microsoft.com/office/drawing/2014/main" xmlns="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3" name="Прямоугольник 2"/>
          <p:cNvSpPr/>
          <p:nvPr/>
        </p:nvSpPr>
        <p:spPr>
          <a:xfrm>
            <a:off x="3345084" y="1238914"/>
            <a:ext cx="700268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Ալմաստ, Ադամանդ, հայերեն Շողակն, (հին 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հուներեն անկոտրում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), ածխածնի բնական տարաձևություններից է։ Բնական ալմաստներն ամենակարծր միներալներն են և նման են անփայլ ապակու գնդիկների։ Լավագույն ալմաստները կամ անգույն են, կամ երկնագույն։ Տարբերում են ակնագործական և տեխնիկական ալմաստներ։ Առավել արժեքավոր է ակնագործականի անգույն տեսակը, որը նիստավորումից (մակերևույթը ողորկում են այնպես, որ ստացվեն բազմաթիվ հարթ 57 նիստեր) հետո կոչվում է ադամանդ։ Նիստավորման շնորհիվ ձեռք բերած ուժեղ փայլի և գունախաղի համար ադամանդը կոչվում է նաև շողակն։ Ալմաստ անվանումը ծագել է արաբերեն «ալմաս» (ամրագույն) բառից։ Ադամանդ հունարեն նշանակում է աննվաճելի, անհաղթահարելի։ Ալմաստը Հայաստան է բերվել հավանաբար Հնդկաստանից։ Փոշին լայնորեն օգտագործվել է հղկման նպատակով և մշակվել է հղկափոշու ստացման հատուկ եղանակ։ Իսկ որպես թանկարժեք քար՝ օգտագործվել է զարդեր պատրաստելու նպատակով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։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36401" y="133587"/>
            <a:ext cx="24625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sz="4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Ալմաստ</a:t>
            </a:r>
            <a:endParaRPr lang="ru-RU" sz="3600" dirty="0">
              <a:solidFill>
                <a:srgbClr val="FF0000"/>
              </a:solidFill>
            </a:endParaRPr>
          </a:p>
        </p:txBody>
      </p:sp>
      <p:pic>
        <p:nvPicPr>
          <p:cNvPr id="40" name="Picture 22">
            <a:extLst>
              <a:ext uri="{FF2B5EF4-FFF2-40B4-BE49-F238E27FC236}">
                <a16:creationId xmlns:a16="http://schemas.microsoft.com/office/drawing/2014/main" xmlns="" id="{E8AD023B-AE8D-405F-90E6-27B0D47079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118119" y="3247473"/>
            <a:ext cx="530600" cy="530600"/>
          </a:xfrm>
          <a:prstGeom prst="rect">
            <a:avLst/>
          </a:prstGeom>
        </p:spPr>
      </p:pic>
      <p:grpSp>
        <p:nvGrpSpPr>
          <p:cNvPr id="41" name="Group 23">
            <a:extLst>
              <a:ext uri="{FF2B5EF4-FFF2-40B4-BE49-F238E27FC236}">
                <a16:creationId xmlns:a16="http://schemas.microsoft.com/office/drawing/2014/main" xmlns="" id="{69A27401-3327-4871-86AC-B461CA62C3AC}"/>
              </a:ext>
            </a:extLst>
          </p:cNvPr>
          <p:cNvGrpSpPr/>
          <p:nvPr/>
        </p:nvGrpSpPr>
        <p:grpSpPr>
          <a:xfrm>
            <a:off x="-8798784" y="0"/>
            <a:ext cx="11447501" cy="6858000"/>
            <a:chOff x="213096" y="0"/>
            <a:chExt cx="11447501" cy="6858000"/>
          </a:xfrm>
        </p:grpSpPr>
        <p:sp>
          <p:nvSpPr>
            <p:cNvPr id="42" name="Rectangle 24">
              <a:extLst>
                <a:ext uri="{FF2B5EF4-FFF2-40B4-BE49-F238E27FC236}">
                  <a16:creationId xmlns:a16="http://schemas.microsoft.com/office/drawing/2014/main" xmlns="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25">
              <a:extLst>
                <a:ext uri="{FF2B5EF4-FFF2-40B4-BE49-F238E27FC236}">
                  <a16:creationId xmlns:a16="http://schemas.microsoft.com/office/drawing/2014/main" xmlns="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240700" y="3220383"/>
              <a:ext cx="21934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200" b="1" dirty="0" smtClean="0">
                  <a:solidFill>
                    <a:srgbClr val="F0EEF0"/>
                  </a:solidFill>
                </a:rPr>
                <a:t>գրաֆեն</a:t>
              </a:r>
              <a:endParaRPr lang="en-US" sz="3200" b="1" dirty="0">
                <a:solidFill>
                  <a:srgbClr val="F0EEF0"/>
                </a:solidFill>
              </a:endParaRPr>
            </a:p>
          </p:txBody>
        </p:sp>
        <p:pic>
          <p:nvPicPr>
            <p:cNvPr id="45" name="Picture 27">
              <a:extLst>
                <a:ext uri="{FF2B5EF4-FFF2-40B4-BE49-F238E27FC236}">
                  <a16:creationId xmlns:a16="http://schemas.microsoft.com/office/drawing/2014/main" xmlns="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6" name="Group 28">
            <a:extLst>
              <a:ext uri="{FF2B5EF4-FFF2-40B4-BE49-F238E27FC236}">
                <a16:creationId xmlns:a16="http://schemas.microsoft.com/office/drawing/2014/main" xmlns="" id="{C0099890-786A-4F87-960D-5DADE5168909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47" name="Rectangle 29">
              <a:extLst>
                <a:ext uri="{FF2B5EF4-FFF2-40B4-BE49-F238E27FC236}">
                  <a16:creationId xmlns:a16="http://schemas.microsoft.com/office/drawing/2014/main" xmlns="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30">
              <a:extLst>
                <a:ext uri="{FF2B5EF4-FFF2-40B4-BE49-F238E27FC236}">
                  <a16:creationId xmlns:a16="http://schemas.microsoft.com/office/drawing/2014/main" xmlns="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9150859" y="3281939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400" b="1" dirty="0" smtClean="0">
                  <a:solidFill>
                    <a:schemeClr val="bg1"/>
                  </a:solidFill>
                </a:rPr>
                <a:t>լոնսդեյլիտ</a:t>
              </a:r>
              <a:endParaRPr lang="en-US" sz="24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32">
              <a:extLst>
                <a:ext uri="{FF2B5EF4-FFF2-40B4-BE49-F238E27FC236}">
                  <a16:creationId xmlns:a16="http://schemas.microsoft.com/office/drawing/2014/main" xmlns="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82" name="Group 33">
            <a:extLst>
              <a:ext uri="{FF2B5EF4-FFF2-40B4-BE49-F238E27FC236}">
                <a16:creationId xmlns:a16="http://schemas.microsoft.com/office/drawing/2014/main" xmlns="" id="{0E4F6447-6163-4D6A-A8D2-BD63B6CB3A42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83" name="Rectangle 34">
              <a:extLst>
                <a:ext uri="{FF2B5EF4-FFF2-40B4-BE49-F238E27FC236}">
                  <a16:creationId xmlns:a16="http://schemas.microsoft.com/office/drawing/2014/main" xmlns="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Freeform: Shape 35">
              <a:extLst>
                <a:ext uri="{FF2B5EF4-FFF2-40B4-BE49-F238E27FC236}">
                  <a16:creationId xmlns:a16="http://schemas.microsoft.com/office/drawing/2014/main" xmlns="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xmlns="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746453" y="3220388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200" dirty="0">
                  <a:solidFill>
                    <a:schemeClr val="bg1"/>
                  </a:solidFill>
                </a:rPr>
                <a:t>Ֆուլերեն</a:t>
              </a:r>
              <a:endParaRPr lang="en-US" sz="20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6" name="Picture 37">
              <a:extLst>
                <a:ext uri="{FF2B5EF4-FFF2-40B4-BE49-F238E27FC236}">
                  <a16:creationId xmlns:a16="http://schemas.microsoft.com/office/drawing/2014/main" xmlns="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87" name="Rectangle 38">
            <a:extLst>
              <a:ext uri="{FF2B5EF4-FFF2-40B4-BE49-F238E27FC236}">
                <a16:creationId xmlns:a16="http://schemas.microsoft.com/office/drawing/2014/main" xmlns="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39">
            <a:extLst>
              <a:ext uri="{FF2B5EF4-FFF2-40B4-BE49-F238E27FC236}">
                <a16:creationId xmlns:a16="http://schemas.microsoft.com/office/drawing/2014/main" xmlns="" id="{3FD3EE0D-FD02-4885-9AC0-03F414A9888F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89" name="Rectangle 40">
              <a:extLst>
                <a:ext uri="{FF2B5EF4-FFF2-40B4-BE49-F238E27FC236}">
                  <a16:creationId xmlns:a16="http://schemas.microsoft.com/office/drawing/2014/main" xmlns="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: Shape 41">
              <a:extLst>
                <a:ext uri="{FF2B5EF4-FFF2-40B4-BE49-F238E27FC236}">
                  <a16:creationId xmlns:a16="http://schemas.microsoft.com/office/drawing/2014/main" xmlns="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xmlns="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948863" y="3267837"/>
              <a:ext cx="2477670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000" dirty="0">
                  <a:solidFill>
                    <a:schemeClr val="bg1"/>
                  </a:solidFill>
                </a:rPr>
                <a:t>նանոխողովակներ</a:t>
              </a:r>
              <a:endParaRPr lang="ru-RU" sz="2000" dirty="0">
                <a:solidFill>
                  <a:schemeClr val="bg1"/>
                </a:solidFill>
              </a:endParaRPr>
            </a:p>
            <a:p>
              <a:pPr algn="ctr"/>
              <a:endParaRPr lang="en-US" sz="300" dirty="0">
                <a:solidFill>
                  <a:schemeClr val="bg1"/>
                </a:solidFill>
              </a:endParaRPr>
            </a:p>
          </p:txBody>
        </p:sp>
        <p:pic>
          <p:nvPicPr>
            <p:cNvPr id="92" name="Picture 43">
              <a:extLst>
                <a:ext uri="{FF2B5EF4-FFF2-40B4-BE49-F238E27FC236}">
                  <a16:creationId xmlns:a16="http://schemas.microsoft.com/office/drawing/2014/main" xmlns="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3" name="Group 44">
            <a:extLst>
              <a:ext uri="{FF2B5EF4-FFF2-40B4-BE49-F238E27FC236}">
                <a16:creationId xmlns:a16="http://schemas.microsoft.com/office/drawing/2014/main" xmlns="" id="{76789F00-2688-429D-926C-15F83152FDBE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94" name="Rectangle 45">
              <a:extLst>
                <a:ext uri="{FF2B5EF4-FFF2-40B4-BE49-F238E27FC236}">
                  <a16:creationId xmlns:a16="http://schemas.microsoft.com/office/drawing/2014/main" xmlns="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Freeform: Shape 46">
              <a:extLst>
                <a:ext uri="{FF2B5EF4-FFF2-40B4-BE49-F238E27FC236}">
                  <a16:creationId xmlns:a16="http://schemas.microsoft.com/office/drawing/2014/main" xmlns="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xmlns="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600" b="1" dirty="0" smtClean="0">
                  <a:solidFill>
                    <a:srgbClr val="F0EEF0"/>
                  </a:solidFill>
                  <a:latin typeface="Tw Cen MT" panose="020B0602020104020603" pitchFamily="34" charset="0"/>
                </a:rPr>
                <a:t>վերջ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97" name="Picture 48">
              <a:extLst>
                <a:ext uri="{FF2B5EF4-FFF2-40B4-BE49-F238E27FC236}">
                  <a16:creationId xmlns:a16="http://schemas.microsoft.com/office/drawing/2014/main" xmlns="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170612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18">
            <a:extLst>
              <a:ext uri="{FF2B5EF4-FFF2-40B4-BE49-F238E27FC236}">
                <a16:creationId xmlns:a16="http://schemas.microsoft.com/office/drawing/2014/main" xmlns="" id="{C8A16B82-6A3C-46F5-8D32-072FDF89864A}"/>
              </a:ext>
            </a:extLst>
          </p:cNvPr>
          <p:cNvGrpSpPr/>
          <p:nvPr/>
        </p:nvGrpSpPr>
        <p:grpSpPr>
          <a:xfrm>
            <a:off x="-290920" y="-1"/>
            <a:ext cx="12482920" cy="6858000"/>
            <a:chOff x="-290920" y="0"/>
            <a:chExt cx="12482920" cy="6858000"/>
          </a:xfrm>
        </p:grpSpPr>
        <p:sp>
          <p:nvSpPr>
            <p:cNvPr id="155" name="Rectangle 19">
              <a:extLst>
                <a:ext uri="{FF2B5EF4-FFF2-40B4-BE49-F238E27FC236}">
                  <a16:creationId xmlns:a16="http://schemas.microsoft.com/office/drawing/2014/main" xmlns="" id="{2F391CEE-E392-4A9D-BD11-6954B994FB4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Freeform: Shape 20">
              <a:extLst>
                <a:ext uri="{FF2B5EF4-FFF2-40B4-BE49-F238E27FC236}">
                  <a16:creationId xmlns:a16="http://schemas.microsoft.com/office/drawing/2014/main" xmlns="" id="{7AC43ACA-5000-40E2-80D3-19833F9F1A3F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xmlns="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600" dirty="0" smtClean="0">
                  <a:solidFill>
                    <a:schemeClr val="bg1"/>
                  </a:solidFill>
                </a:rPr>
                <a:t>ալմաստ</a:t>
              </a:r>
              <a:endParaRPr lang="en-US" sz="36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58" name="Picture 22">
              <a:extLst>
                <a:ext uri="{FF2B5EF4-FFF2-40B4-BE49-F238E27FC236}">
                  <a16:creationId xmlns:a16="http://schemas.microsoft.com/office/drawing/2014/main" xmlns="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59" name="Group 23">
            <a:extLst>
              <a:ext uri="{FF2B5EF4-FFF2-40B4-BE49-F238E27FC236}">
                <a16:creationId xmlns:a16="http://schemas.microsoft.com/office/drawing/2014/main" xmlns="" id="{69A27401-3327-4871-86AC-B461CA62C3AC}"/>
              </a:ext>
            </a:extLst>
          </p:cNvPr>
          <p:cNvGrpSpPr/>
          <p:nvPr/>
        </p:nvGrpSpPr>
        <p:grpSpPr>
          <a:xfrm>
            <a:off x="213096" y="-1"/>
            <a:ext cx="11447501" cy="6858000"/>
            <a:chOff x="213096" y="0"/>
            <a:chExt cx="11447501" cy="6858000"/>
          </a:xfrm>
        </p:grpSpPr>
        <p:sp>
          <p:nvSpPr>
            <p:cNvPr id="160" name="Rectangle 24">
              <a:extLst>
                <a:ext uri="{FF2B5EF4-FFF2-40B4-BE49-F238E27FC236}">
                  <a16:creationId xmlns:a16="http://schemas.microsoft.com/office/drawing/2014/main" xmlns="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Freeform: Shape 25">
              <a:extLst>
                <a:ext uri="{FF2B5EF4-FFF2-40B4-BE49-F238E27FC236}">
                  <a16:creationId xmlns:a16="http://schemas.microsoft.com/office/drawing/2014/main" xmlns="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xmlns="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240700" y="3220383"/>
              <a:ext cx="21934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200" b="1" dirty="0" smtClean="0">
                  <a:solidFill>
                    <a:srgbClr val="F0EEF0"/>
                  </a:solidFill>
                </a:rPr>
                <a:t>գրաֆեն</a:t>
              </a:r>
              <a:endParaRPr lang="en-US" sz="3200" b="1" dirty="0">
                <a:solidFill>
                  <a:srgbClr val="F0EEF0"/>
                </a:solidFill>
              </a:endParaRPr>
            </a:p>
          </p:txBody>
        </p:sp>
        <p:pic>
          <p:nvPicPr>
            <p:cNvPr id="163" name="Picture 27">
              <a:extLst>
                <a:ext uri="{FF2B5EF4-FFF2-40B4-BE49-F238E27FC236}">
                  <a16:creationId xmlns:a16="http://schemas.microsoft.com/office/drawing/2014/main" xmlns="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xmlns="" id="{B38973E8-8FEC-48EF-89C3-A1086AD31515}"/>
              </a:ext>
            </a:extLst>
          </p:cNvPr>
          <p:cNvSpPr txBox="1"/>
          <p:nvPr/>
        </p:nvSpPr>
        <p:spPr>
          <a:xfrm>
            <a:off x="8083100" y="3455581"/>
            <a:ext cx="1591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b="1" dirty="0">
              <a:solidFill>
                <a:srgbClr val="A6A6A6"/>
              </a:solidFill>
              <a:latin typeface="Tw Cen MT" panose="020B06020201040206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354072" y="1169522"/>
            <a:ext cx="813812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Այն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առաջանում է ածխածնի ատոմների շերտից, որոնք ունեն վեցանկյուն երկակի բյուրեղացանց։ Միանում է </a:t>
            </a:r>
            <a:r>
              <a:rPr lang="el-GR" dirty="0">
                <a:solidFill>
                  <a:schemeClr val="accent5">
                    <a:lumMod val="75000"/>
                  </a:schemeClr>
                </a:solidFill>
              </a:rPr>
              <a:t>δ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և </a:t>
            </a:r>
            <a:r>
              <a:rPr lang="el-GR" dirty="0">
                <a:solidFill>
                  <a:schemeClr val="accent5">
                    <a:lumMod val="75000"/>
                  </a:schemeClr>
                </a:solidFill>
              </a:rPr>
              <a:t>π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կապերով, երբ ածխածինը գտնվում է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sp2 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հիբրիդացման աստիճանում։ Իր բնույթով ածխածնի երկչափ ալոտրոպ ձևափոխություն է։ 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Լիցքակիրների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 բարձր շարժունակությունը(հայտնի նյութերից ամենաբարձրը էլեկտրոնի շարժունակությունն է)նյութի օգտագործումը ամենատարբեր ծրագրերում դարձնում է հեռանկարային, մասնավորապես` հիմք է դառնում ապագա 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նանոէլեկտրոնիկայի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 և 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ինտեգրալային միկրոսխեմաներում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 սիլիցիումի հավանական փոխարինման համար։ Գրաֆենը ունի բազմաթիվ հատկություններ։ Այն մոտավորապես 200անգամ ավելի ամուր է, քան պողպատը։ Այն ջերմությունը և էլեկտրականությունը հաղորդում է շատ էֆեկտիվորեն և գրեթե թափանցիկ 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է։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Գրաֆենում նաև կա մեծ ու 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ոչ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գծային 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դիամագնիսականություն,նույնիսկ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ավելի շատ, քան գրաֆիտի մոտ։ Հետազոտողները նրանում հայտնաբերել են երկբևեռ տրանզիստրի էֆեկտ, բալիստիկ տեղափոխվող լիցքեր և մեծ քվանտային 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տատանումներ։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2010 թվականին գազային ֆազայով քիմիական նստեցման եղանակով աճեցվել է գրաֆենի մետրանոց թերթեր, որի միջոցով շատ ավելի մատչելի դարձավ արդյունաբերությունը։ Մյուս մեթոդը ջերմային քայքայումն էր սիլիցիումի կարբիդի 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տակդիրով։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221636" y="346948"/>
            <a:ext cx="27590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sz="4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Գրաֆեն</a:t>
            </a:r>
            <a:r>
              <a:rPr lang="hy-AM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ru-RU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73" name="Picture 27">
            <a:extLst>
              <a:ext uri="{FF2B5EF4-FFF2-40B4-BE49-F238E27FC236}">
                <a16:creationId xmlns:a16="http://schemas.microsoft.com/office/drawing/2014/main" xmlns="" id="{2B44F548-697F-412D-9B99-861C272463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89053" y="3247473"/>
            <a:ext cx="530600" cy="530600"/>
          </a:xfrm>
          <a:prstGeom prst="rect">
            <a:avLst/>
          </a:prstGeom>
        </p:spPr>
      </p:pic>
      <p:grpSp>
        <p:nvGrpSpPr>
          <p:cNvPr id="74" name="Group 28">
            <a:extLst>
              <a:ext uri="{FF2B5EF4-FFF2-40B4-BE49-F238E27FC236}">
                <a16:creationId xmlns:a16="http://schemas.microsoft.com/office/drawing/2014/main" xmlns="" id="{C0099890-786A-4F87-960D-5DADE5168909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75" name="Rectangle 29">
              <a:extLst>
                <a:ext uri="{FF2B5EF4-FFF2-40B4-BE49-F238E27FC236}">
                  <a16:creationId xmlns:a16="http://schemas.microsoft.com/office/drawing/2014/main" xmlns="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30">
              <a:extLst>
                <a:ext uri="{FF2B5EF4-FFF2-40B4-BE49-F238E27FC236}">
                  <a16:creationId xmlns:a16="http://schemas.microsoft.com/office/drawing/2014/main" xmlns="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9150859" y="3281939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400" b="1" dirty="0" smtClean="0">
                  <a:solidFill>
                    <a:schemeClr val="bg1"/>
                  </a:solidFill>
                </a:rPr>
                <a:t>լոնսդեյլիտ</a:t>
              </a:r>
              <a:endParaRPr lang="en-US" sz="24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8" name="Picture 32">
              <a:extLst>
                <a:ext uri="{FF2B5EF4-FFF2-40B4-BE49-F238E27FC236}">
                  <a16:creationId xmlns:a16="http://schemas.microsoft.com/office/drawing/2014/main" xmlns="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9" name="Group 33">
            <a:extLst>
              <a:ext uri="{FF2B5EF4-FFF2-40B4-BE49-F238E27FC236}">
                <a16:creationId xmlns:a16="http://schemas.microsoft.com/office/drawing/2014/main" xmlns="" id="{0E4F6447-6163-4D6A-A8D2-BD63B6CB3A42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80" name="Rectangle 34">
              <a:extLst>
                <a:ext uri="{FF2B5EF4-FFF2-40B4-BE49-F238E27FC236}">
                  <a16:creationId xmlns:a16="http://schemas.microsoft.com/office/drawing/2014/main" xmlns="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: Shape 35">
              <a:extLst>
                <a:ext uri="{FF2B5EF4-FFF2-40B4-BE49-F238E27FC236}">
                  <a16:creationId xmlns:a16="http://schemas.microsoft.com/office/drawing/2014/main" xmlns="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xmlns="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746453" y="3220388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200" dirty="0">
                  <a:solidFill>
                    <a:schemeClr val="bg1"/>
                  </a:solidFill>
                </a:rPr>
                <a:t>Ֆուլերեն</a:t>
              </a:r>
              <a:endParaRPr lang="en-US" sz="20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12" name="Picture 37">
              <a:extLst>
                <a:ext uri="{FF2B5EF4-FFF2-40B4-BE49-F238E27FC236}">
                  <a16:creationId xmlns:a16="http://schemas.microsoft.com/office/drawing/2014/main" xmlns="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113" name="Rectangle 38">
            <a:extLst>
              <a:ext uri="{FF2B5EF4-FFF2-40B4-BE49-F238E27FC236}">
                <a16:creationId xmlns:a16="http://schemas.microsoft.com/office/drawing/2014/main" xmlns="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39">
            <a:extLst>
              <a:ext uri="{FF2B5EF4-FFF2-40B4-BE49-F238E27FC236}">
                <a16:creationId xmlns:a16="http://schemas.microsoft.com/office/drawing/2014/main" xmlns="" id="{3FD3EE0D-FD02-4885-9AC0-03F414A9888F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116" name="Rectangle 40">
              <a:extLst>
                <a:ext uri="{FF2B5EF4-FFF2-40B4-BE49-F238E27FC236}">
                  <a16:creationId xmlns:a16="http://schemas.microsoft.com/office/drawing/2014/main" xmlns="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Freeform: Shape 41">
              <a:extLst>
                <a:ext uri="{FF2B5EF4-FFF2-40B4-BE49-F238E27FC236}">
                  <a16:creationId xmlns:a16="http://schemas.microsoft.com/office/drawing/2014/main" xmlns="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xmlns="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948863" y="3267837"/>
              <a:ext cx="2477670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000" dirty="0">
                  <a:solidFill>
                    <a:schemeClr val="bg1"/>
                  </a:solidFill>
                </a:rPr>
                <a:t>նանոխողովակներ</a:t>
              </a:r>
              <a:endParaRPr lang="ru-RU" sz="2000" dirty="0">
                <a:solidFill>
                  <a:schemeClr val="bg1"/>
                </a:solidFill>
              </a:endParaRPr>
            </a:p>
            <a:p>
              <a:pPr algn="ctr"/>
              <a:endParaRPr lang="en-US" sz="300" dirty="0">
                <a:solidFill>
                  <a:schemeClr val="bg1"/>
                </a:solidFill>
              </a:endParaRPr>
            </a:p>
          </p:txBody>
        </p:sp>
        <p:pic>
          <p:nvPicPr>
            <p:cNvPr id="123" name="Picture 43">
              <a:extLst>
                <a:ext uri="{FF2B5EF4-FFF2-40B4-BE49-F238E27FC236}">
                  <a16:creationId xmlns:a16="http://schemas.microsoft.com/office/drawing/2014/main" xmlns="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24" name="Group 44">
            <a:extLst>
              <a:ext uri="{FF2B5EF4-FFF2-40B4-BE49-F238E27FC236}">
                <a16:creationId xmlns:a16="http://schemas.microsoft.com/office/drawing/2014/main" xmlns="" id="{76789F00-2688-429D-926C-15F83152FDBE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125" name="Rectangle 45">
              <a:extLst>
                <a:ext uri="{FF2B5EF4-FFF2-40B4-BE49-F238E27FC236}">
                  <a16:creationId xmlns:a16="http://schemas.microsoft.com/office/drawing/2014/main" xmlns="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Freeform: Shape 46">
              <a:extLst>
                <a:ext uri="{FF2B5EF4-FFF2-40B4-BE49-F238E27FC236}">
                  <a16:creationId xmlns:a16="http://schemas.microsoft.com/office/drawing/2014/main" xmlns="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xmlns="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600" b="1" dirty="0" smtClean="0">
                  <a:solidFill>
                    <a:srgbClr val="F0EEF0"/>
                  </a:solidFill>
                  <a:latin typeface="Tw Cen MT" panose="020B0602020104020603" pitchFamily="34" charset="0"/>
                </a:rPr>
                <a:t>վերջ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28" name="Picture 48">
              <a:extLst>
                <a:ext uri="{FF2B5EF4-FFF2-40B4-BE49-F238E27FC236}">
                  <a16:creationId xmlns:a16="http://schemas.microsoft.com/office/drawing/2014/main" xmlns="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69485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18">
            <a:extLst>
              <a:ext uri="{FF2B5EF4-FFF2-40B4-BE49-F238E27FC236}">
                <a16:creationId xmlns:a16="http://schemas.microsoft.com/office/drawing/2014/main" xmlns="" id="{C8A16B82-6A3C-46F5-8D32-072FDF89864A}"/>
              </a:ext>
            </a:extLst>
          </p:cNvPr>
          <p:cNvGrpSpPr/>
          <p:nvPr/>
        </p:nvGrpSpPr>
        <p:grpSpPr>
          <a:xfrm>
            <a:off x="-290920" y="-1"/>
            <a:ext cx="12482920" cy="6858000"/>
            <a:chOff x="-290920" y="0"/>
            <a:chExt cx="12482920" cy="6858000"/>
          </a:xfrm>
        </p:grpSpPr>
        <p:sp>
          <p:nvSpPr>
            <p:cNvPr id="130" name="Rectangle 19">
              <a:extLst>
                <a:ext uri="{FF2B5EF4-FFF2-40B4-BE49-F238E27FC236}">
                  <a16:creationId xmlns:a16="http://schemas.microsoft.com/office/drawing/2014/main" xmlns="" id="{2F391CEE-E392-4A9D-BD11-6954B994FB4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Freeform: Shape 20">
              <a:extLst>
                <a:ext uri="{FF2B5EF4-FFF2-40B4-BE49-F238E27FC236}">
                  <a16:creationId xmlns:a16="http://schemas.microsoft.com/office/drawing/2014/main" xmlns="" id="{7AC43ACA-5000-40E2-80D3-19833F9F1A3F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xmlns="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600" dirty="0" smtClean="0">
                  <a:solidFill>
                    <a:schemeClr val="bg1"/>
                  </a:solidFill>
                </a:rPr>
                <a:t>ալմաստ</a:t>
              </a:r>
              <a:endParaRPr lang="en-US" sz="36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33" name="Picture 22">
              <a:extLst>
                <a:ext uri="{FF2B5EF4-FFF2-40B4-BE49-F238E27FC236}">
                  <a16:creationId xmlns:a16="http://schemas.microsoft.com/office/drawing/2014/main" xmlns="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34" name="Group 23">
            <a:extLst>
              <a:ext uri="{FF2B5EF4-FFF2-40B4-BE49-F238E27FC236}">
                <a16:creationId xmlns:a16="http://schemas.microsoft.com/office/drawing/2014/main" xmlns="" id="{69A27401-3327-4871-86AC-B461CA62C3AC}"/>
              </a:ext>
            </a:extLst>
          </p:cNvPr>
          <p:cNvGrpSpPr/>
          <p:nvPr/>
        </p:nvGrpSpPr>
        <p:grpSpPr>
          <a:xfrm>
            <a:off x="213096" y="-1"/>
            <a:ext cx="11447501" cy="6858000"/>
            <a:chOff x="213096" y="0"/>
            <a:chExt cx="11447501" cy="6858000"/>
          </a:xfrm>
        </p:grpSpPr>
        <p:sp>
          <p:nvSpPr>
            <p:cNvPr id="135" name="Rectangle 24">
              <a:extLst>
                <a:ext uri="{FF2B5EF4-FFF2-40B4-BE49-F238E27FC236}">
                  <a16:creationId xmlns:a16="http://schemas.microsoft.com/office/drawing/2014/main" xmlns="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Freeform: Shape 25">
              <a:extLst>
                <a:ext uri="{FF2B5EF4-FFF2-40B4-BE49-F238E27FC236}">
                  <a16:creationId xmlns:a16="http://schemas.microsoft.com/office/drawing/2014/main" xmlns="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xmlns="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240700" y="3220383"/>
              <a:ext cx="21934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200" b="1" dirty="0" smtClean="0">
                  <a:solidFill>
                    <a:srgbClr val="F0EEF0"/>
                  </a:solidFill>
                </a:rPr>
                <a:t>գրաֆեն</a:t>
              </a:r>
              <a:endParaRPr lang="en-US" sz="3200" b="1" dirty="0">
                <a:solidFill>
                  <a:srgbClr val="F0EEF0"/>
                </a:solidFill>
              </a:endParaRPr>
            </a:p>
          </p:txBody>
        </p:sp>
        <p:pic>
          <p:nvPicPr>
            <p:cNvPr id="138" name="Picture 27">
              <a:extLst>
                <a:ext uri="{FF2B5EF4-FFF2-40B4-BE49-F238E27FC236}">
                  <a16:creationId xmlns:a16="http://schemas.microsoft.com/office/drawing/2014/main" xmlns="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39" name="Group 28">
            <a:extLst>
              <a:ext uri="{FF2B5EF4-FFF2-40B4-BE49-F238E27FC236}">
                <a16:creationId xmlns:a16="http://schemas.microsoft.com/office/drawing/2014/main" xmlns="" id="{C0099890-786A-4F87-960D-5DADE5168909}"/>
              </a:ext>
            </a:extLst>
          </p:cNvPr>
          <p:cNvGrpSpPr/>
          <p:nvPr/>
        </p:nvGrpSpPr>
        <p:grpSpPr>
          <a:xfrm>
            <a:off x="1164241" y="-1"/>
            <a:ext cx="9961092" cy="6858000"/>
            <a:chOff x="491575" y="0"/>
            <a:chExt cx="9961092" cy="6858000"/>
          </a:xfrm>
        </p:grpSpPr>
        <p:sp>
          <p:nvSpPr>
            <p:cNvPr id="140" name="Rectangle 29">
              <a:extLst>
                <a:ext uri="{FF2B5EF4-FFF2-40B4-BE49-F238E27FC236}">
                  <a16:creationId xmlns:a16="http://schemas.microsoft.com/office/drawing/2014/main" xmlns="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Freeform: Shape 30">
              <a:extLst>
                <a:ext uri="{FF2B5EF4-FFF2-40B4-BE49-F238E27FC236}">
                  <a16:creationId xmlns:a16="http://schemas.microsoft.com/office/drawing/2014/main" xmlns="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xmlns="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9150859" y="3281939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400" b="1" dirty="0" smtClean="0">
                  <a:solidFill>
                    <a:schemeClr val="bg1"/>
                  </a:solidFill>
                </a:rPr>
                <a:t>լոնսդեյլիտ</a:t>
              </a:r>
              <a:endParaRPr lang="en-US" sz="24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43" name="Picture 32">
              <a:extLst>
                <a:ext uri="{FF2B5EF4-FFF2-40B4-BE49-F238E27FC236}">
                  <a16:creationId xmlns:a16="http://schemas.microsoft.com/office/drawing/2014/main" xmlns="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3" name="Прямоугольник 2"/>
          <p:cNvSpPr/>
          <p:nvPr/>
        </p:nvSpPr>
        <p:spPr>
          <a:xfrm>
            <a:off x="1885268" y="1296383"/>
            <a:ext cx="813054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b="1" dirty="0">
                <a:solidFill>
                  <a:schemeClr val="accent5">
                    <a:lumMod val="75000"/>
                  </a:schemeClr>
                </a:solidFill>
              </a:rPr>
              <a:t>Լոնսդեյլիտ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 կամ </a:t>
            </a:r>
            <a:r>
              <a:rPr lang="hy-AM" b="1" dirty="0">
                <a:solidFill>
                  <a:schemeClr val="accent5">
                    <a:lumMod val="75000"/>
                  </a:schemeClr>
                </a:solidFill>
              </a:rPr>
              <a:t>վեցանիստ </a:t>
            </a:r>
            <a:r>
              <a:rPr lang="hy-AM" b="1" dirty="0" smtClean="0">
                <a:solidFill>
                  <a:schemeClr val="accent5">
                    <a:lumMod val="75000"/>
                  </a:schemeClr>
                </a:solidFill>
              </a:rPr>
              <a:t>ալմաստ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։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Հայտնագործվել է 1966 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թ։ Լոնսդեյլիտը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համարվում է հայտնի ամենակարծր նյութերից մեկը, իր կարծրությամբ այն 58 %-ով գերազանցում է 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ալմաստը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 (լոնսդեյլիտը կարող է դիմանալ մինչև 152 հՊա, մինչդեռ ալմաստը՝ 97 հՊա), սակայն լոնսդեյլիտի գործնական կիրառումը քիչ հավանական է դրա ստացման բարդության պատճառով։ Ճնշման տակ ատոմները լոնսդեյլիտի բյուրեղացանցում վերադասավորվում են այնպես, որ նմուշների ծավալը մնում է անփոփոխ, իսկ կարծրությունը՝ մեծանում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։</a:t>
            </a:r>
          </a:p>
          <a:p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Ալմաստը և լոնսդեյլիտն ունեն միանման վալենտային անկյուն, որոնք հավասար են 109°28’16’’, կապերի երկարությունը կազմում է 0,1545 նանոմետր, կոորդինացիոն թիվը՝ 4։ Ալմաստի տարրական բջիջը պարունակում է ածխածնի ութ ատոմ, իսկ լոնսդեյլիտը՝ չորս։ Ալմաստի և լոնսդեյլիտի բյուրեղացանցերն իրարից տարբերվում են դարսվածքի եղանակով։ Լոնսդեյլիտին բնորոշ է երկշերտ՝ (…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</a:rPr>
              <a:t>АВАВ…)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տիպի դարսվածք, որտեղ յուրաքանչյուր հաջորդ տետրաեդրիկ շերտը նախորդի նկատմամբ թեքված է 60˚-ով։ Ալմաստին բնորոշ է եռաշերտ՝ (…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</a:rPr>
              <a:t>АВСАВС…)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տիպի դարսվածք, որտեղ բոլոր շերտերը կառուցված են միանման կոորդինացիոն տետրաերդերից։ Ալմաստն այդ առումով նման է </a:t>
            </a:r>
            <a:r>
              <a:rPr lang="el-GR" dirty="0">
                <a:solidFill>
                  <a:schemeClr val="accent5">
                    <a:lumMod val="75000"/>
                  </a:schemeClr>
                </a:solidFill>
              </a:rPr>
              <a:t>α-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գրաֆիտին, միայն ալմաստի հարթությունը «ծալքավորված» է։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231157" y="236696"/>
            <a:ext cx="343876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sz="4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Լոնսդեյլիտ</a:t>
            </a:r>
            <a:endParaRPr lang="ru-RU" dirty="0"/>
          </a:p>
        </p:txBody>
      </p:sp>
      <p:grpSp>
        <p:nvGrpSpPr>
          <p:cNvPr id="113" name="Group 33">
            <a:extLst>
              <a:ext uri="{FF2B5EF4-FFF2-40B4-BE49-F238E27FC236}">
                <a16:creationId xmlns:a16="http://schemas.microsoft.com/office/drawing/2014/main" xmlns="" id="{0E4F6447-6163-4D6A-A8D2-BD63B6CB3A42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114" name="Rectangle 34">
              <a:extLst>
                <a:ext uri="{FF2B5EF4-FFF2-40B4-BE49-F238E27FC236}">
                  <a16:creationId xmlns:a16="http://schemas.microsoft.com/office/drawing/2014/main" xmlns="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Freeform: Shape 35">
              <a:extLst>
                <a:ext uri="{FF2B5EF4-FFF2-40B4-BE49-F238E27FC236}">
                  <a16:creationId xmlns:a16="http://schemas.microsoft.com/office/drawing/2014/main" xmlns="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xmlns="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746453" y="3220388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200" dirty="0">
                  <a:solidFill>
                    <a:schemeClr val="bg1"/>
                  </a:solidFill>
                </a:rPr>
                <a:t>Ֆուլերեն</a:t>
              </a:r>
              <a:endParaRPr lang="en-US" sz="20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17" name="Picture 37">
              <a:extLst>
                <a:ext uri="{FF2B5EF4-FFF2-40B4-BE49-F238E27FC236}">
                  <a16:creationId xmlns:a16="http://schemas.microsoft.com/office/drawing/2014/main" xmlns="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118" name="Rectangle 38">
            <a:extLst>
              <a:ext uri="{FF2B5EF4-FFF2-40B4-BE49-F238E27FC236}">
                <a16:creationId xmlns:a16="http://schemas.microsoft.com/office/drawing/2014/main" xmlns="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9" name="Group 39">
            <a:extLst>
              <a:ext uri="{FF2B5EF4-FFF2-40B4-BE49-F238E27FC236}">
                <a16:creationId xmlns:a16="http://schemas.microsoft.com/office/drawing/2014/main" xmlns="" id="{3FD3EE0D-FD02-4885-9AC0-03F414A9888F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120" name="Rectangle 40">
              <a:extLst>
                <a:ext uri="{FF2B5EF4-FFF2-40B4-BE49-F238E27FC236}">
                  <a16:creationId xmlns:a16="http://schemas.microsoft.com/office/drawing/2014/main" xmlns="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Freeform: Shape 41">
              <a:extLst>
                <a:ext uri="{FF2B5EF4-FFF2-40B4-BE49-F238E27FC236}">
                  <a16:creationId xmlns:a16="http://schemas.microsoft.com/office/drawing/2014/main" xmlns="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xmlns="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948863" y="3267837"/>
              <a:ext cx="2477670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000" dirty="0">
                  <a:solidFill>
                    <a:schemeClr val="bg1"/>
                  </a:solidFill>
                </a:rPr>
                <a:t>նանոխողովակներ</a:t>
              </a:r>
              <a:endParaRPr lang="ru-RU" sz="2000" dirty="0">
                <a:solidFill>
                  <a:schemeClr val="bg1"/>
                </a:solidFill>
              </a:endParaRPr>
            </a:p>
            <a:p>
              <a:pPr algn="ctr"/>
              <a:endParaRPr lang="en-US" sz="300" dirty="0">
                <a:solidFill>
                  <a:schemeClr val="bg1"/>
                </a:solidFill>
              </a:endParaRPr>
            </a:p>
          </p:txBody>
        </p:sp>
        <p:pic>
          <p:nvPicPr>
            <p:cNvPr id="123" name="Picture 43">
              <a:extLst>
                <a:ext uri="{FF2B5EF4-FFF2-40B4-BE49-F238E27FC236}">
                  <a16:creationId xmlns:a16="http://schemas.microsoft.com/office/drawing/2014/main" xmlns="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24" name="Group 44">
            <a:extLst>
              <a:ext uri="{FF2B5EF4-FFF2-40B4-BE49-F238E27FC236}">
                <a16:creationId xmlns:a16="http://schemas.microsoft.com/office/drawing/2014/main" xmlns="" id="{76789F00-2688-429D-926C-15F83152FDBE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125" name="Rectangle 45">
              <a:extLst>
                <a:ext uri="{FF2B5EF4-FFF2-40B4-BE49-F238E27FC236}">
                  <a16:creationId xmlns:a16="http://schemas.microsoft.com/office/drawing/2014/main" xmlns="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Freeform: Shape 46">
              <a:extLst>
                <a:ext uri="{FF2B5EF4-FFF2-40B4-BE49-F238E27FC236}">
                  <a16:creationId xmlns:a16="http://schemas.microsoft.com/office/drawing/2014/main" xmlns="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xmlns="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600" b="1" dirty="0" smtClean="0">
                  <a:solidFill>
                    <a:srgbClr val="F0EEF0"/>
                  </a:solidFill>
                  <a:latin typeface="Tw Cen MT" panose="020B0602020104020603" pitchFamily="34" charset="0"/>
                </a:rPr>
                <a:t>վերջ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28" name="Picture 48">
              <a:extLst>
                <a:ext uri="{FF2B5EF4-FFF2-40B4-BE49-F238E27FC236}">
                  <a16:creationId xmlns:a16="http://schemas.microsoft.com/office/drawing/2014/main" xmlns="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44992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18">
            <a:extLst>
              <a:ext uri="{FF2B5EF4-FFF2-40B4-BE49-F238E27FC236}">
                <a16:creationId xmlns:a16="http://schemas.microsoft.com/office/drawing/2014/main" xmlns="" id="{C8A16B82-6A3C-46F5-8D32-072FDF89864A}"/>
              </a:ext>
            </a:extLst>
          </p:cNvPr>
          <p:cNvGrpSpPr/>
          <p:nvPr/>
        </p:nvGrpSpPr>
        <p:grpSpPr>
          <a:xfrm>
            <a:off x="-290920" y="-1"/>
            <a:ext cx="12482920" cy="6858000"/>
            <a:chOff x="-290920" y="0"/>
            <a:chExt cx="12482920" cy="6858000"/>
          </a:xfrm>
        </p:grpSpPr>
        <p:sp>
          <p:nvSpPr>
            <p:cNvPr id="105" name="Rectangle 19">
              <a:extLst>
                <a:ext uri="{FF2B5EF4-FFF2-40B4-BE49-F238E27FC236}">
                  <a16:creationId xmlns:a16="http://schemas.microsoft.com/office/drawing/2014/main" xmlns="" id="{2F391CEE-E392-4A9D-BD11-6954B994FB4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Freeform: Shape 20">
              <a:extLst>
                <a:ext uri="{FF2B5EF4-FFF2-40B4-BE49-F238E27FC236}">
                  <a16:creationId xmlns:a16="http://schemas.microsoft.com/office/drawing/2014/main" xmlns="" id="{7AC43ACA-5000-40E2-80D3-19833F9F1A3F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xmlns="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600" dirty="0" smtClean="0">
                  <a:solidFill>
                    <a:schemeClr val="bg1"/>
                  </a:solidFill>
                </a:rPr>
                <a:t>ալմաստ</a:t>
              </a:r>
              <a:endParaRPr lang="en-US" sz="36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08" name="Picture 22">
              <a:extLst>
                <a:ext uri="{FF2B5EF4-FFF2-40B4-BE49-F238E27FC236}">
                  <a16:creationId xmlns:a16="http://schemas.microsoft.com/office/drawing/2014/main" xmlns="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09" name="Group 23">
            <a:extLst>
              <a:ext uri="{FF2B5EF4-FFF2-40B4-BE49-F238E27FC236}">
                <a16:creationId xmlns:a16="http://schemas.microsoft.com/office/drawing/2014/main" xmlns="" id="{69A27401-3327-4871-86AC-B461CA62C3AC}"/>
              </a:ext>
            </a:extLst>
          </p:cNvPr>
          <p:cNvGrpSpPr/>
          <p:nvPr/>
        </p:nvGrpSpPr>
        <p:grpSpPr>
          <a:xfrm>
            <a:off x="213096" y="-1"/>
            <a:ext cx="11447501" cy="6858000"/>
            <a:chOff x="213096" y="0"/>
            <a:chExt cx="11447501" cy="6858000"/>
          </a:xfrm>
        </p:grpSpPr>
        <p:sp>
          <p:nvSpPr>
            <p:cNvPr id="110" name="Rectangle 24">
              <a:extLst>
                <a:ext uri="{FF2B5EF4-FFF2-40B4-BE49-F238E27FC236}">
                  <a16:creationId xmlns:a16="http://schemas.microsoft.com/office/drawing/2014/main" xmlns="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Freeform: Shape 25">
              <a:extLst>
                <a:ext uri="{FF2B5EF4-FFF2-40B4-BE49-F238E27FC236}">
                  <a16:creationId xmlns:a16="http://schemas.microsoft.com/office/drawing/2014/main" xmlns="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xmlns="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240700" y="3220383"/>
              <a:ext cx="21934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200" b="1" dirty="0" smtClean="0">
                  <a:solidFill>
                    <a:srgbClr val="F0EEF0"/>
                  </a:solidFill>
                </a:rPr>
                <a:t>գրաֆեն</a:t>
              </a:r>
              <a:endParaRPr lang="en-US" sz="3200" b="1" dirty="0">
                <a:solidFill>
                  <a:srgbClr val="F0EEF0"/>
                </a:solidFill>
              </a:endParaRPr>
            </a:p>
          </p:txBody>
        </p:sp>
        <p:pic>
          <p:nvPicPr>
            <p:cNvPr id="113" name="Picture 27">
              <a:extLst>
                <a:ext uri="{FF2B5EF4-FFF2-40B4-BE49-F238E27FC236}">
                  <a16:creationId xmlns:a16="http://schemas.microsoft.com/office/drawing/2014/main" xmlns="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14" name="Group 28">
            <a:extLst>
              <a:ext uri="{FF2B5EF4-FFF2-40B4-BE49-F238E27FC236}">
                <a16:creationId xmlns:a16="http://schemas.microsoft.com/office/drawing/2014/main" xmlns="" id="{C0099890-786A-4F87-960D-5DADE5168909}"/>
              </a:ext>
            </a:extLst>
          </p:cNvPr>
          <p:cNvGrpSpPr/>
          <p:nvPr/>
        </p:nvGrpSpPr>
        <p:grpSpPr>
          <a:xfrm>
            <a:off x="1164241" y="-1"/>
            <a:ext cx="9961092" cy="6858000"/>
            <a:chOff x="491575" y="0"/>
            <a:chExt cx="9961092" cy="6858000"/>
          </a:xfrm>
        </p:grpSpPr>
        <p:sp>
          <p:nvSpPr>
            <p:cNvPr id="115" name="Rectangle 29">
              <a:extLst>
                <a:ext uri="{FF2B5EF4-FFF2-40B4-BE49-F238E27FC236}">
                  <a16:creationId xmlns:a16="http://schemas.microsoft.com/office/drawing/2014/main" xmlns="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Freeform: Shape 30">
              <a:extLst>
                <a:ext uri="{FF2B5EF4-FFF2-40B4-BE49-F238E27FC236}">
                  <a16:creationId xmlns:a16="http://schemas.microsoft.com/office/drawing/2014/main" xmlns="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xmlns="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9150859" y="3281939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400" b="1" dirty="0" smtClean="0">
                  <a:solidFill>
                    <a:schemeClr val="bg1"/>
                  </a:solidFill>
                </a:rPr>
                <a:t>լոնսդեյլիտ</a:t>
              </a:r>
              <a:endParaRPr lang="en-US" sz="24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18" name="Picture 32">
              <a:extLst>
                <a:ext uri="{FF2B5EF4-FFF2-40B4-BE49-F238E27FC236}">
                  <a16:creationId xmlns:a16="http://schemas.microsoft.com/office/drawing/2014/main" xmlns="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19" name="Group 33">
            <a:extLst>
              <a:ext uri="{FF2B5EF4-FFF2-40B4-BE49-F238E27FC236}">
                <a16:creationId xmlns:a16="http://schemas.microsoft.com/office/drawing/2014/main" xmlns="" id="{0E4F6447-6163-4D6A-A8D2-BD63B6CB3A42}"/>
              </a:ext>
            </a:extLst>
          </p:cNvPr>
          <p:cNvGrpSpPr/>
          <p:nvPr/>
        </p:nvGrpSpPr>
        <p:grpSpPr>
          <a:xfrm>
            <a:off x="1026683" y="-1"/>
            <a:ext cx="9574094" cy="6858000"/>
            <a:chOff x="491575" y="0"/>
            <a:chExt cx="9574094" cy="6858000"/>
          </a:xfrm>
        </p:grpSpPr>
        <p:sp>
          <p:nvSpPr>
            <p:cNvPr id="120" name="Rectangle 34">
              <a:extLst>
                <a:ext uri="{FF2B5EF4-FFF2-40B4-BE49-F238E27FC236}">
                  <a16:creationId xmlns:a16="http://schemas.microsoft.com/office/drawing/2014/main" xmlns="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Freeform: Shape 35">
              <a:extLst>
                <a:ext uri="{FF2B5EF4-FFF2-40B4-BE49-F238E27FC236}">
                  <a16:creationId xmlns:a16="http://schemas.microsoft.com/office/drawing/2014/main" xmlns="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xmlns="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746453" y="3220388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200" dirty="0">
                  <a:solidFill>
                    <a:schemeClr val="bg1"/>
                  </a:solidFill>
                </a:rPr>
                <a:t>Ֆուլերեն</a:t>
              </a:r>
              <a:endParaRPr lang="en-US" sz="20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23" name="Picture 37">
              <a:extLst>
                <a:ext uri="{FF2B5EF4-FFF2-40B4-BE49-F238E27FC236}">
                  <a16:creationId xmlns:a16="http://schemas.microsoft.com/office/drawing/2014/main" xmlns="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4" name="AutoShape 3" descr="{\displaystyle |n|-|e|+|f|=2}"/>
          <p:cNvSpPr>
            <a:spLocks noChangeAspect="1" noChangeArrowheads="1"/>
          </p:cNvSpPr>
          <p:nvPr/>
        </p:nvSpPr>
        <p:spPr bwMode="auto">
          <a:xfrm>
            <a:off x="6145213" y="84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{\displaystyle |n|,|e|}"/>
          <p:cNvSpPr>
            <a:spLocks noChangeAspect="1" noChangeArrowheads="1"/>
          </p:cNvSpPr>
          <p:nvPr/>
        </p:nvSpPr>
        <p:spPr bwMode="auto">
          <a:xfrm>
            <a:off x="6743700" y="84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5" descr="{\displaystyle |f|}"/>
          <p:cNvSpPr>
            <a:spLocks noChangeAspect="1" noChangeArrowheads="1"/>
          </p:cNvSpPr>
          <p:nvPr/>
        </p:nvSpPr>
        <p:spPr bwMode="auto">
          <a:xfrm>
            <a:off x="7005638" y="84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 descr="{\displaystyle n/2-10}"/>
          <p:cNvSpPr>
            <a:spLocks noChangeAspect="1" noChangeArrowheads="1"/>
          </p:cNvSpPr>
          <p:nvPr/>
        </p:nvSpPr>
        <p:spPr bwMode="auto">
          <a:xfrm>
            <a:off x="14805025" y="84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244645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299658" y="1220329"/>
            <a:ext cx="8259436" cy="5416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sz="1730" dirty="0">
                <a:solidFill>
                  <a:schemeClr val="accent5">
                    <a:lumMod val="75000"/>
                  </a:schemeClr>
                </a:solidFill>
              </a:rPr>
              <a:t>Ֆուլերեն, մոլեկուլային միացություն, որը իրենից ներկայացնում է արտապքված փակ բազմանկյուն,որը կազմված է եռաչափ տարածական կառուցվածք ունեցող </a:t>
            </a:r>
            <a:r>
              <a:rPr lang="hy-AM" sz="1730" dirty="0" smtClean="0">
                <a:solidFill>
                  <a:schemeClr val="accent5">
                    <a:lumMod val="75000"/>
                  </a:schemeClr>
                </a:solidFill>
              </a:rPr>
              <a:t>ածխածնի ատոմներից</a:t>
            </a:r>
            <a:r>
              <a:rPr lang="hy-AM" sz="1730" dirty="0">
                <a:solidFill>
                  <a:schemeClr val="accent5">
                    <a:lumMod val="75000"/>
                  </a:schemeClr>
                </a:solidFill>
              </a:rPr>
              <a:t>: Ֆուլերենները իրենց անվանումը ստացել են ինժեներ և ճարտարապետ Ռիչարդ Բակմինստեր Ֆուլլերի անունից, որի գեոդեզիական կառույցները պատրաստված են այդ սկզբունքով</a:t>
            </a:r>
            <a:r>
              <a:rPr lang="hy-AM" sz="1730" dirty="0" smtClean="0">
                <a:solidFill>
                  <a:schemeClr val="accent5">
                    <a:lumMod val="75000"/>
                  </a:schemeClr>
                </a:solidFill>
              </a:rPr>
              <a:t>:</a:t>
            </a:r>
          </a:p>
          <a:p>
            <a:r>
              <a:rPr lang="hy-AM" sz="1730" dirty="0">
                <a:solidFill>
                  <a:schemeClr val="accent5">
                    <a:lumMod val="75000"/>
                  </a:schemeClr>
                </a:solidFill>
              </a:rPr>
              <a:t>1985 թվականին մի խումբ հետազոտողներ Ռոբերտ Կուրլը, Հարոլդ Կրոտը, Ռիչարդ </a:t>
            </a:r>
            <a:r>
              <a:rPr lang="hy-AM" sz="1730" dirty="0" smtClean="0">
                <a:solidFill>
                  <a:schemeClr val="accent5">
                    <a:lumMod val="75000"/>
                  </a:schemeClr>
                </a:solidFill>
              </a:rPr>
              <a:t>Սմոլին, </a:t>
            </a:r>
            <a:r>
              <a:rPr lang="hy-AM" sz="1730" dirty="0">
                <a:solidFill>
                  <a:schemeClr val="accent5">
                    <a:lumMod val="75000"/>
                  </a:schemeClr>
                </a:solidFill>
              </a:rPr>
              <a:t>Խիսը և Օբրայնը հետազոտում էին գրաֆիտի գոլորշու զագված սպեկտորը,որը ստացվել էր կոշտ նմուշի լազերային ճառագայթման (աբլյացիայի) արդյունքում, հայտնաբերեցին առավելագույն տատանումներով գագաթներ, թրթնք համապատասխանում էին 60-ից 70 ածխածնի ատոմներից կազմված կլաստերներին (միատեսակ ատոմներից կամ մոլեկուլներից կազմված կայուն միացություններ</a:t>
            </a:r>
            <a:r>
              <a:rPr lang="hy-AM" sz="1730" dirty="0" smtClean="0">
                <a:solidFill>
                  <a:schemeClr val="accent5">
                    <a:lumMod val="75000"/>
                  </a:schemeClr>
                </a:solidFill>
              </a:rPr>
              <a:t>): </a:t>
            </a:r>
            <a:r>
              <a:rPr lang="hy-AM" sz="1730" dirty="0">
                <a:solidFill>
                  <a:schemeClr val="accent5">
                    <a:lumMod val="75000"/>
                  </a:schemeClr>
                </a:solidFill>
              </a:rPr>
              <a:t>Նրանք ենթադրեցին, որ այդ գագաթները համապատասխանում են </a:t>
            </a:r>
            <a:r>
              <a:rPr lang="ru-RU" sz="1730" dirty="0">
                <a:solidFill>
                  <a:schemeClr val="accent5">
                    <a:lumMod val="75000"/>
                  </a:schemeClr>
                </a:solidFill>
              </a:rPr>
              <a:t>С</a:t>
            </a:r>
            <a:r>
              <a:rPr lang="ru-RU" sz="1730" baseline="-25000" dirty="0">
                <a:solidFill>
                  <a:schemeClr val="accent5">
                    <a:lumMod val="75000"/>
                  </a:schemeClr>
                </a:solidFill>
              </a:rPr>
              <a:t>60</a:t>
            </a:r>
            <a:r>
              <a:rPr lang="ru-RU" sz="1730" dirty="0">
                <a:solidFill>
                  <a:schemeClr val="accent5">
                    <a:lumMod val="75000"/>
                  </a:schemeClr>
                </a:solidFill>
              </a:rPr>
              <a:t> </a:t>
            </a:r>
            <a:r>
              <a:rPr lang="hy-AM" sz="1730" dirty="0">
                <a:solidFill>
                  <a:schemeClr val="accent5">
                    <a:lumMod val="75000"/>
                  </a:schemeClr>
                </a:solidFill>
              </a:rPr>
              <a:t>և </a:t>
            </a:r>
            <a:r>
              <a:rPr lang="ru-RU" sz="1730" dirty="0">
                <a:solidFill>
                  <a:schemeClr val="accent5">
                    <a:lumMod val="75000"/>
                  </a:schemeClr>
                </a:solidFill>
              </a:rPr>
              <a:t>С</a:t>
            </a:r>
            <a:r>
              <a:rPr lang="ru-RU" sz="1730" baseline="-25000" dirty="0">
                <a:solidFill>
                  <a:schemeClr val="accent5">
                    <a:lumMod val="75000"/>
                  </a:schemeClr>
                </a:solidFill>
              </a:rPr>
              <a:t>70</a:t>
            </a:r>
            <a:r>
              <a:rPr lang="ru-RU" sz="1730" dirty="0">
                <a:solidFill>
                  <a:schemeClr val="accent5">
                    <a:lumMod val="75000"/>
                  </a:schemeClr>
                </a:solidFill>
              </a:rPr>
              <a:t> </a:t>
            </a:r>
            <a:r>
              <a:rPr lang="hy-AM" sz="1730" dirty="0">
                <a:solidFill>
                  <a:schemeClr val="accent5">
                    <a:lumMod val="75000"/>
                  </a:schemeClr>
                </a:solidFill>
              </a:rPr>
              <a:t>մոլեկուլներին և առաջ քաշեցինտեսություն, որ </a:t>
            </a:r>
            <a:r>
              <a:rPr lang="ru-RU" sz="1730" dirty="0">
                <a:solidFill>
                  <a:schemeClr val="accent5">
                    <a:lumMod val="75000"/>
                  </a:schemeClr>
                </a:solidFill>
              </a:rPr>
              <a:t>С</a:t>
            </a:r>
            <a:r>
              <a:rPr lang="ru-RU" sz="1730" baseline="-25000" dirty="0">
                <a:solidFill>
                  <a:schemeClr val="accent5">
                    <a:lumMod val="75000"/>
                  </a:schemeClr>
                </a:solidFill>
              </a:rPr>
              <a:t>60</a:t>
            </a:r>
            <a:r>
              <a:rPr lang="ru-RU" sz="1730" dirty="0">
                <a:solidFill>
                  <a:schemeClr val="accent5">
                    <a:lumMod val="75000"/>
                  </a:schemeClr>
                </a:solidFill>
              </a:rPr>
              <a:t> </a:t>
            </a:r>
            <a:r>
              <a:rPr lang="hy-AM" sz="1730" dirty="0">
                <a:solidFill>
                  <a:schemeClr val="accent5">
                    <a:lumMod val="75000"/>
                  </a:schemeClr>
                </a:solidFill>
              </a:rPr>
              <a:t>մոլեկուլն ունի </a:t>
            </a:r>
            <a:r>
              <a:rPr lang="en-US" sz="1730" dirty="0" err="1">
                <a:solidFill>
                  <a:schemeClr val="accent5">
                    <a:lumMod val="75000"/>
                  </a:schemeClr>
                </a:solidFill>
              </a:rPr>
              <a:t>I</a:t>
            </a:r>
            <a:r>
              <a:rPr lang="en-US" sz="1730" baseline="-25000" dirty="0" err="1">
                <a:solidFill>
                  <a:schemeClr val="accent5">
                    <a:lumMod val="75000"/>
                  </a:schemeClr>
                </a:solidFill>
              </a:rPr>
              <a:t>h</a:t>
            </a:r>
            <a:r>
              <a:rPr lang="en-US" sz="1730" dirty="0">
                <a:solidFill>
                  <a:schemeClr val="accent5">
                    <a:lumMod val="75000"/>
                  </a:schemeClr>
                </a:solidFill>
              </a:rPr>
              <a:t> </a:t>
            </a:r>
            <a:r>
              <a:rPr lang="hy-AM" sz="1730" dirty="0">
                <a:solidFill>
                  <a:schemeClr val="accent5">
                    <a:lumMod val="75000"/>
                  </a:schemeClr>
                </a:solidFill>
              </a:rPr>
              <a:t>համաչափությամբ հատված իկոսաէդրի տեսք: Ածխածնի այսպիսի բազմակողմ կլեյստերները անվանեցին ֆուլերեններ, որի ամենատարածված մոլեկուլը </a:t>
            </a:r>
            <a:r>
              <a:rPr lang="ru-RU" sz="1730" dirty="0">
                <a:solidFill>
                  <a:schemeClr val="accent5">
                    <a:lumMod val="75000"/>
                  </a:schemeClr>
                </a:solidFill>
              </a:rPr>
              <a:t>С</a:t>
            </a:r>
            <a:r>
              <a:rPr lang="ru-RU" sz="1730" baseline="-25000" dirty="0">
                <a:solidFill>
                  <a:schemeClr val="accent5">
                    <a:lumMod val="75000"/>
                  </a:schemeClr>
                </a:solidFill>
              </a:rPr>
              <a:t>60</a:t>
            </a:r>
            <a:r>
              <a:rPr lang="ru-RU" sz="1730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hy-AM" sz="1730" dirty="0">
                <a:solidFill>
                  <a:schemeClr val="accent5">
                    <a:lumMod val="75000"/>
                  </a:schemeClr>
                </a:solidFill>
              </a:rPr>
              <a:t>ն է (որին նաև անվանում են բակիբոլ, կամ բուկիբոլ, անգլ.՝ </a:t>
            </a:r>
            <a:r>
              <a:rPr lang="en-US" sz="1730" dirty="0" err="1">
                <a:solidFill>
                  <a:schemeClr val="accent5">
                    <a:lumMod val="75000"/>
                  </a:schemeClr>
                </a:solidFill>
              </a:rPr>
              <a:t>buckyball</a:t>
            </a:r>
            <a:r>
              <a:rPr lang="en-US" sz="1730" dirty="0" smtClean="0">
                <a:solidFill>
                  <a:schemeClr val="accent5">
                    <a:lumMod val="75000"/>
                  </a:schemeClr>
                </a:solidFill>
              </a:rPr>
              <a:t>)), </a:t>
            </a:r>
            <a:r>
              <a:rPr lang="hy-AM" sz="1730" dirty="0">
                <a:solidFill>
                  <a:schemeClr val="accent5">
                    <a:lumMod val="75000"/>
                  </a:schemeClr>
                </a:solidFill>
              </a:rPr>
              <a:t>ամերիակացի ճարտարապետ Ֆուլերի անունով, որը իր շինությունների գմբեթների կառուցման համար օգտագործել է հինգ և վեցաանկյուններ, որոնք հանդիսանում են բոլոր ֆուլերենների մոլեկուլային կմախքի հիմնական կառույցները:</a:t>
            </a:r>
            <a:endParaRPr lang="ru-RU" sz="173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663673" y="147974"/>
            <a:ext cx="278634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sz="4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Ֆուլերեն</a:t>
            </a:r>
            <a:endParaRPr lang="ru-RU" sz="4400" dirty="0"/>
          </a:p>
        </p:txBody>
      </p:sp>
      <p:sp>
        <p:nvSpPr>
          <p:cNvPr id="88" name="Rectangle 38">
            <a:extLst>
              <a:ext uri="{FF2B5EF4-FFF2-40B4-BE49-F238E27FC236}">
                <a16:creationId xmlns:a16="http://schemas.microsoft.com/office/drawing/2014/main" xmlns="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39">
            <a:extLst>
              <a:ext uri="{FF2B5EF4-FFF2-40B4-BE49-F238E27FC236}">
                <a16:creationId xmlns:a16="http://schemas.microsoft.com/office/drawing/2014/main" xmlns="" id="{3FD3EE0D-FD02-4885-9AC0-03F414A9888F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90" name="Rectangle 40">
              <a:extLst>
                <a:ext uri="{FF2B5EF4-FFF2-40B4-BE49-F238E27FC236}">
                  <a16:creationId xmlns:a16="http://schemas.microsoft.com/office/drawing/2014/main" xmlns="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: Shape 41">
              <a:extLst>
                <a:ext uri="{FF2B5EF4-FFF2-40B4-BE49-F238E27FC236}">
                  <a16:creationId xmlns:a16="http://schemas.microsoft.com/office/drawing/2014/main" xmlns="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xmlns="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948863" y="3267837"/>
              <a:ext cx="2477670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000" dirty="0">
                  <a:solidFill>
                    <a:schemeClr val="bg1"/>
                  </a:solidFill>
                </a:rPr>
                <a:t>նանոխողովակներ</a:t>
              </a:r>
              <a:endParaRPr lang="ru-RU" sz="2000" dirty="0">
                <a:solidFill>
                  <a:schemeClr val="bg1"/>
                </a:solidFill>
              </a:endParaRPr>
            </a:p>
            <a:p>
              <a:pPr algn="ctr"/>
              <a:endParaRPr lang="en-US" sz="300" dirty="0">
                <a:solidFill>
                  <a:schemeClr val="bg1"/>
                </a:solidFill>
              </a:endParaRPr>
            </a:p>
          </p:txBody>
        </p:sp>
        <p:pic>
          <p:nvPicPr>
            <p:cNvPr id="93" name="Picture 43">
              <a:extLst>
                <a:ext uri="{FF2B5EF4-FFF2-40B4-BE49-F238E27FC236}">
                  <a16:creationId xmlns:a16="http://schemas.microsoft.com/office/drawing/2014/main" xmlns="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4" name="Group 44">
            <a:extLst>
              <a:ext uri="{FF2B5EF4-FFF2-40B4-BE49-F238E27FC236}">
                <a16:creationId xmlns:a16="http://schemas.microsoft.com/office/drawing/2014/main" xmlns="" id="{76789F00-2688-429D-926C-15F83152FDBE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100" name="Rectangle 45">
              <a:extLst>
                <a:ext uri="{FF2B5EF4-FFF2-40B4-BE49-F238E27FC236}">
                  <a16:creationId xmlns:a16="http://schemas.microsoft.com/office/drawing/2014/main" xmlns="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Freeform: Shape 46">
              <a:extLst>
                <a:ext uri="{FF2B5EF4-FFF2-40B4-BE49-F238E27FC236}">
                  <a16:creationId xmlns:a16="http://schemas.microsoft.com/office/drawing/2014/main" xmlns="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xmlns="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600" b="1" dirty="0" smtClean="0">
                  <a:solidFill>
                    <a:srgbClr val="F0EEF0"/>
                  </a:solidFill>
                  <a:latin typeface="Tw Cen MT" panose="020B0602020104020603" pitchFamily="34" charset="0"/>
                </a:rPr>
                <a:t>վերջ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03" name="Picture 48">
              <a:extLst>
                <a:ext uri="{FF2B5EF4-FFF2-40B4-BE49-F238E27FC236}">
                  <a16:creationId xmlns:a16="http://schemas.microsoft.com/office/drawing/2014/main" xmlns="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520057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18">
            <a:extLst>
              <a:ext uri="{FF2B5EF4-FFF2-40B4-BE49-F238E27FC236}">
                <a16:creationId xmlns:a16="http://schemas.microsoft.com/office/drawing/2014/main" xmlns="" id="{C8A16B82-6A3C-46F5-8D32-072FDF89864A}"/>
              </a:ext>
            </a:extLst>
          </p:cNvPr>
          <p:cNvGrpSpPr/>
          <p:nvPr/>
        </p:nvGrpSpPr>
        <p:grpSpPr>
          <a:xfrm>
            <a:off x="-1841492" y="-1"/>
            <a:ext cx="14033492" cy="6858000"/>
            <a:chOff x="-290920" y="0"/>
            <a:chExt cx="12482920" cy="6858000"/>
          </a:xfrm>
        </p:grpSpPr>
        <p:sp>
          <p:nvSpPr>
            <p:cNvPr id="89" name="Rectangle 19">
              <a:extLst>
                <a:ext uri="{FF2B5EF4-FFF2-40B4-BE49-F238E27FC236}">
                  <a16:creationId xmlns:a16="http://schemas.microsoft.com/office/drawing/2014/main" xmlns="" id="{2F391CEE-E392-4A9D-BD11-6954B994FB4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Freeform: Shape 20">
              <a:extLst>
                <a:ext uri="{FF2B5EF4-FFF2-40B4-BE49-F238E27FC236}">
                  <a16:creationId xmlns:a16="http://schemas.microsoft.com/office/drawing/2014/main" xmlns="" id="{7AC43ACA-5000-40E2-80D3-19833F9F1A3F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xmlns="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600" dirty="0" smtClean="0">
                  <a:solidFill>
                    <a:schemeClr val="bg1"/>
                  </a:solidFill>
                </a:rPr>
                <a:t>ալմաստ</a:t>
              </a:r>
              <a:endParaRPr lang="en-US" sz="36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92" name="Picture 22">
              <a:extLst>
                <a:ext uri="{FF2B5EF4-FFF2-40B4-BE49-F238E27FC236}">
                  <a16:creationId xmlns:a16="http://schemas.microsoft.com/office/drawing/2014/main" xmlns="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3" name="Group 23">
            <a:extLst>
              <a:ext uri="{FF2B5EF4-FFF2-40B4-BE49-F238E27FC236}">
                <a16:creationId xmlns:a16="http://schemas.microsoft.com/office/drawing/2014/main" xmlns="" id="{69A27401-3327-4871-86AC-B461CA62C3AC}"/>
              </a:ext>
            </a:extLst>
          </p:cNvPr>
          <p:cNvGrpSpPr/>
          <p:nvPr/>
        </p:nvGrpSpPr>
        <p:grpSpPr>
          <a:xfrm>
            <a:off x="-1208860" y="-1"/>
            <a:ext cx="12884517" cy="6858000"/>
            <a:chOff x="213096" y="0"/>
            <a:chExt cx="11460896" cy="6858000"/>
          </a:xfrm>
        </p:grpSpPr>
        <p:sp>
          <p:nvSpPr>
            <p:cNvPr id="94" name="Rectangle 24">
              <a:extLst>
                <a:ext uri="{FF2B5EF4-FFF2-40B4-BE49-F238E27FC236}">
                  <a16:creationId xmlns:a16="http://schemas.microsoft.com/office/drawing/2014/main" xmlns="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: Shape 25">
              <a:extLst>
                <a:ext uri="{FF2B5EF4-FFF2-40B4-BE49-F238E27FC236}">
                  <a16:creationId xmlns:a16="http://schemas.microsoft.com/office/drawing/2014/main" xmlns="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xmlns="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284870" y="3220383"/>
              <a:ext cx="21934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200" b="1" dirty="0" smtClean="0">
                  <a:solidFill>
                    <a:srgbClr val="F0EEF0"/>
                  </a:solidFill>
                </a:rPr>
                <a:t>գրաֆեն</a:t>
              </a:r>
              <a:endParaRPr lang="en-US" sz="3200" b="1" dirty="0">
                <a:solidFill>
                  <a:srgbClr val="F0EEF0"/>
                </a:solidFill>
              </a:endParaRPr>
            </a:p>
          </p:txBody>
        </p:sp>
        <p:pic>
          <p:nvPicPr>
            <p:cNvPr id="102" name="Picture 27">
              <a:extLst>
                <a:ext uri="{FF2B5EF4-FFF2-40B4-BE49-F238E27FC236}">
                  <a16:creationId xmlns:a16="http://schemas.microsoft.com/office/drawing/2014/main" xmlns="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03" name="Group 28">
            <a:extLst>
              <a:ext uri="{FF2B5EF4-FFF2-40B4-BE49-F238E27FC236}">
                <a16:creationId xmlns:a16="http://schemas.microsoft.com/office/drawing/2014/main" xmlns="" id="{C0099890-786A-4F87-960D-5DADE5168909}"/>
              </a:ext>
            </a:extLst>
          </p:cNvPr>
          <p:cNvGrpSpPr/>
          <p:nvPr/>
        </p:nvGrpSpPr>
        <p:grpSpPr>
          <a:xfrm>
            <a:off x="-73081" y="-1"/>
            <a:ext cx="11198414" cy="6858000"/>
            <a:chOff x="491575" y="0"/>
            <a:chExt cx="9961092" cy="6858000"/>
          </a:xfrm>
        </p:grpSpPr>
        <p:sp>
          <p:nvSpPr>
            <p:cNvPr id="104" name="Rectangle 29">
              <a:extLst>
                <a:ext uri="{FF2B5EF4-FFF2-40B4-BE49-F238E27FC236}">
                  <a16:creationId xmlns:a16="http://schemas.microsoft.com/office/drawing/2014/main" xmlns="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: Shape 30">
              <a:extLst>
                <a:ext uri="{FF2B5EF4-FFF2-40B4-BE49-F238E27FC236}">
                  <a16:creationId xmlns:a16="http://schemas.microsoft.com/office/drawing/2014/main" xmlns="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xmlns="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9150859" y="3281939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400" b="1" dirty="0" smtClean="0">
                  <a:solidFill>
                    <a:schemeClr val="bg1"/>
                  </a:solidFill>
                </a:rPr>
                <a:t>լոնսդեյլիտ</a:t>
              </a:r>
              <a:endParaRPr lang="en-US" sz="24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07" name="Picture 32">
              <a:extLst>
                <a:ext uri="{FF2B5EF4-FFF2-40B4-BE49-F238E27FC236}">
                  <a16:creationId xmlns:a16="http://schemas.microsoft.com/office/drawing/2014/main" xmlns="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08" name="Group 33">
            <a:extLst>
              <a:ext uri="{FF2B5EF4-FFF2-40B4-BE49-F238E27FC236}">
                <a16:creationId xmlns:a16="http://schemas.microsoft.com/office/drawing/2014/main" xmlns="" id="{0E4F6447-6163-4D6A-A8D2-BD63B6CB3A42}"/>
              </a:ext>
            </a:extLst>
          </p:cNvPr>
          <p:cNvGrpSpPr/>
          <p:nvPr/>
        </p:nvGrpSpPr>
        <p:grpSpPr>
          <a:xfrm>
            <a:off x="-162568" y="-1"/>
            <a:ext cx="10810534" cy="6858000"/>
            <a:chOff x="491575" y="0"/>
            <a:chExt cx="9616069" cy="6858000"/>
          </a:xfrm>
        </p:grpSpPr>
        <p:sp>
          <p:nvSpPr>
            <p:cNvPr id="109" name="Rectangle 34">
              <a:extLst>
                <a:ext uri="{FF2B5EF4-FFF2-40B4-BE49-F238E27FC236}">
                  <a16:creationId xmlns:a16="http://schemas.microsoft.com/office/drawing/2014/main" xmlns="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35">
              <a:extLst>
                <a:ext uri="{FF2B5EF4-FFF2-40B4-BE49-F238E27FC236}">
                  <a16:creationId xmlns:a16="http://schemas.microsoft.com/office/drawing/2014/main" xmlns="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xmlns="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819214" y="3220388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200" dirty="0">
                  <a:solidFill>
                    <a:schemeClr val="bg1"/>
                  </a:solidFill>
                </a:rPr>
                <a:t>Ֆուլերեն</a:t>
              </a:r>
              <a:endParaRPr lang="en-US" sz="20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12" name="Picture 37">
              <a:extLst>
                <a:ext uri="{FF2B5EF4-FFF2-40B4-BE49-F238E27FC236}">
                  <a16:creationId xmlns:a16="http://schemas.microsoft.com/office/drawing/2014/main" xmlns="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13" name="Group 39">
            <a:extLst>
              <a:ext uri="{FF2B5EF4-FFF2-40B4-BE49-F238E27FC236}">
                <a16:creationId xmlns:a16="http://schemas.microsoft.com/office/drawing/2014/main" xmlns="" id="{3FD3EE0D-FD02-4885-9AC0-03F414A9888F}"/>
              </a:ext>
            </a:extLst>
          </p:cNvPr>
          <p:cNvGrpSpPr/>
          <p:nvPr/>
        </p:nvGrpSpPr>
        <p:grpSpPr>
          <a:xfrm>
            <a:off x="293615" y="-2"/>
            <a:ext cx="9772053" cy="6858000"/>
            <a:chOff x="718505" y="-1"/>
            <a:chExt cx="8692331" cy="6858000"/>
          </a:xfrm>
        </p:grpSpPr>
        <p:sp>
          <p:nvSpPr>
            <p:cNvPr id="114" name="Rectangle 40">
              <a:extLst>
                <a:ext uri="{FF2B5EF4-FFF2-40B4-BE49-F238E27FC236}">
                  <a16:creationId xmlns:a16="http://schemas.microsoft.com/office/drawing/2014/main" xmlns="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Freeform: Shape 41">
              <a:extLst>
                <a:ext uri="{FF2B5EF4-FFF2-40B4-BE49-F238E27FC236}">
                  <a16:creationId xmlns:a16="http://schemas.microsoft.com/office/drawing/2014/main" xmlns="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xmlns="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948863" y="3267837"/>
              <a:ext cx="2477670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000" dirty="0">
                  <a:solidFill>
                    <a:schemeClr val="bg1"/>
                  </a:solidFill>
                </a:rPr>
                <a:t>նանոխողովակներ</a:t>
              </a:r>
              <a:endParaRPr lang="ru-RU" sz="2000" dirty="0">
                <a:solidFill>
                  <a:schemeClr val="bg1"/>
                </a:solidFill>
              </a:endParaRPr>
            </a:p>
            <a:p>
              <a:pPr algn="ctr"/>
              <a:endParaRPr lang="en-US" sz="300" dirty="0">
                <a:solidFill>
                  <a:schemeClr val="bg1"/>
                </a:solidFill>
              </a:endParaRPr>
            </a:p>
          </p:txBody>
        </p:sp>
        <p:pic>
          <p:nvPicPr>
            <p:cNvPr id="117" name="Picture 43">
              <a:extLst>
                <a:ext uri="{FF2B5EF4-FFF2-40B4-BE49-F238E27FC236}">
                  <a16:creationId xmlns:a16="http://schemas.microsoft.com/office/drawing/2014/main" xmlns="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xmlns="" id="{990CE96C-B0E8-49CB-B717-EBFFECB6602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xmlns="" id="{60E31D48-090A-4A9C-AF5C-4B0C49C47C7D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xmlns="" id="{3A79A714-CB74-4EFD-9BC1-A7F2F993842A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xmlns="" id="{B006C60A-833A-41C2-A553-8132E7B3A7DB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xmlns="" id="{95AECC6C-A520-4756-9163-08D14835D791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600" b="1" dirty="0" smtClean="0">
                  <a:solidFill>
                    <a:srgbClr val="F0EEF0"/>
                  </a:solidFill>
                  <a:latin typeface="Tw Cen MT" panose="020B0602020104020603" pitchFamily="34" charset="0"/>
                </a:rPr>
                <a:t>վերջ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xmlns="" id="{0F8A56B9-A504-4035-8439-53ED4617B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4" name="Прямоугольник 3"/>
          <p:cNvSpPr/>
          <p:nvPr/>
        </p:nvSpPr>
        <p:spPr>
          <a:xfrm>
            <a:off x="812799" y="1228366"/>
            <a:ext cx="781304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Ածխածնային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նանոխողովակներ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 (ԱԾՆ), ածխածնի ալոտրոպ ձևափոխություններից են։ Սրանք նանոմետրական չափսերի գլանաձև մոլեկուլներ են, որոնց երկարություն – տրամագիծ հարաբերությունը կարող է հասնել մինչև 132.000.000:1: Սա գրանցված ամենամեծ արժեքն է ներկայիս հայտնի նյութերի համար։ Շնորհիվ իրենց բացառիկ հատկությունների, նանոխողովակները մեծ հետաքրքրություն են ներկայացնում էլեկտրոնիկայի, օպտիկայի, նանոտեխնոլոգիաների և այլ բնագավառների համար։</a:t>
            </a:r>
          </a:p>
          <a:p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ԱԾՆ-ի կառուցվածքը սովորաբար նկարագրվում է գրաֆենի շերտերի օգնությամբ, որոնք ենթարկվում են երկրաչափական ձևափոխությունների՝ գլանաձև կառուցվածք ստանալու համար։ Գլանի տրամագիծը և ձևափոխման դիսկրետ(քիրալ) անկյունը որոշում են նանոխողովակի հատկությունները։ Օրինակ՝ դրանցից է կախված նանոխողովակը մետաղական է, թե կիսահաղորդչային։ Ըստ շերտերի քանակի նանոխողովակները դասակարգվում են երկու խմբի՝ միաշերտ և բազմաշերտ։ Սովորաբար բազմաշերտ նանոխողովակները լինում են մետաղական։ Միաշերտ նանոխողովակների կարող են լինել և մետաղական, և կիսահաղորդչային։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95067" y="328414"/>
            <a:ext cx="94852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sz="4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Ածխածնային</a:t>
            </a:r>
            <a:r>
              <a:rPr lang="hy-AM" sz="4400" dirty="0"/>
              <a:t> </a:t>
            </a:r>
            <a:r>
              <a:rPr lang="hy-AM" sz="4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նանոխողովակներ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55795959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8">
            <a:extLst>
              <a:ext uri="{FF2B5EF4-FFF2-40B4-BE49-F238E27FC236}">
                <a16:creationId xmlns:a16="http://schemas.microsoft.com/office/drawing/2014/main" xmlns="" id="{C8A16B82-6A3C-46F5-8D32-072FDF89864A}"/>
              </a:ext>
            </a:extLst>
          </p:cNvPr>
          <p:cNvGrpSpPr/>
          <p:nvPr/>
        </p:nvGrpSpPr>
        <p:grpSpPr>
          <a:xfrm>
            <a:off x="-290920" y="-1"/>
            <a:ext cx="12482920" cy="6858000"/>
            <a:chOff x="-290920" y="0"/>
            <a:chExt cx="12482920" cy="6858000"/>
          </a:xfrm>
        </p:grpSpPr>
        <p:sp>
          <p:nvSpPr>
            <p:cNvPr id="157" name="Rectangle 19">
              <a:extLst>
                <a:ext uri="{FF2B5EF4-FFF2-40B4-BE49-F238E27FC236}">
                  <a16:creationId xmlns:a16="http://schemas.microsoft.com/office/drawing/2014/main" xmlns="" id="{2F391CEE-E392-4A9D-BD11-6954B994FB4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Freeform: Shape 20">
              <a:extLst>
                <a:ext uri="{FF2B5EF4-FFF2-40B4-BE49-F238E27FC236}">
                  <a16:creationId xmlns:a16="http://schemas.microsoft.com/office/drawing/2014/main" xmlns="" id="{7AC43ACA-5000-40E2-80D3-19833F9F1A3F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xmlns="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600" dirty="0" smtClean="0">
                  <a:solidFill>
                    <a:schemeClr val="bg1"/>
                  </a:solidFill>
                </a:rPr>
                <a:t>ալմաստ</a:t>
              </a:r>
              <a:endParaRPr lang="en-US" sz="36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60" name="Picture 22">
              <a:extLst>
                <a:ext uri="{FF2B5EF4-FFF2-40B4-BE49-F238E27FC236}">
                  <a16:creationId xmlns:a16="http://schemas.microsoft.com/office/drawing/2014/main" xmlns="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61" name="Group 23">
            <a:extLst>
              <a:ext uri="{FF2B5EF4-FFF2-40B4-BE49-F238E27FC236}">
                <a16:creationId xmlns:a16="http://schemas.microsoft.com/office/drawing/2014/main" xmlns="" id="{69A27401-3327-4871-86AC-B461CA62C3AC}"/>
              </a:ext>
            </a:extLst>
          </p:cNvPr>
          <p:cNvGrpSpPr/>
          <p:nvPr/>
        </p:nvGrpSpPr>
        <p:grpSpPr>
          <a:xfrm>
            <a:off x="213096" y="-1"/>
            <a:ext cx="11447501" cy="6858000"/>
            <a:chOff x="213096" y="0"/>
            <a:chExt cx="11447501" cy="6858000"/>
          </a:xfrm>
        </p:grpSpPr>
        <p:sp>
          <p:nvSpPr>
            <p:cNvPr id="162" name="Rectangle 24">
              <a:extLst>
                <a:ext uri="{FF2B5EF4-FFF2-40B4-BE49-F238E27FC236}">
                  <a16:creationId xmlns:a16="http://schemas.microsoft.com/office/drawing/2014/main" xmlns="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Freeform: Shape 25">
              <a:extLst>
                <a:ext uri="{FF2B5EF4-FFF2-40B4-BE49-F238E27FC236}">
                  <a16:creationId xmlns:a16="http://schemas.microsoft.com/office/drawing/2014/main" xmlns="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xmlns="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240700" y="3220383"/>
              <a:ext cx="21934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200" b="1" dirty="0" smtClean="0">
                  <a:solidFill>
                    <a:srgbClr val="F0EEF0"/>
                  </a:solidFill>
                </a:rPr>
                <a:t>գրաֆեն</a:t>
              </a:r>
              <a:endParaRPr lang="en-US" sz="3200" b="1" dirty="0">
                <a:solidFill>
                  <a:srgbClr val="F0EEF0"/>
                </a:solidFill>
              </a:endParaRPr>
            </a:p>
          </p:txBody>
        </p:sp>
        <p:pic>
          <p:nvPicPr>
            <p:cNvPr id="165" name="Picture 27">
              <a:extLst>
                <a:ext uri="{FF2B5EF4-FFF2-40B4-BE49-F238E27FC236}">
                  <a16:creationId xmlns:a16="http://schemas.microsoft.com/office/drawing/2014/main" xmlns="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66" name="Group 28">
            <a:extLst>
              <a:ext uri="{FF2B5EF4-FFF2-40B4-BE49-F238E27FC236}">
                <a16:creationId xmlns:a16="http://schemas.microsoft.com/office/drawing/2014/main" xmlns="" id="{C0099890-786A-4F87-960D-5DADE5168909}"/>
              </a:ext>
            </a:extLst>
          </p:cNvPr>
          <p:cNvGrpSpPr/>
          <p:nvPr/>
        </p:nvGrpSpPr>
        <p:grpSpPr>
          <a:xfrm>
            <a:off x="1164241" y="-1"/>
            <a:ext cx="9961092" cy="6858000"/>
            <a:chOff x="491575" y="0"/>
            <a:chExt cx="9961092" cy="6858000"/>
          </a:xfrm>
        </p:grpSpPr>
        <p:sp>
          <p:nvSpPr>
            <p:cNvPr id="167" name="Rectangle 29">
              <a:extLst>
                <a:ext uri="{FF2B5EF4-FFF2-40B4-BE49-F238E27FC236}">
                  <a16:creationId xmlns:a16="http://schemas.microsoft.com/office/drawing/2014/main" xmlns="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Freeform: Shape 30">
              <a:extLst>
                <a:ext uri="{FF2B5EF4-FFF2-40B4-BE49-F238E27FC236}">
                  <a16:creationId xmlns:a16="http://schemas.microsoft.com/office/drawing/2014/main" xmlns="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xmlns="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9150859" y="3281939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400" b="1" dirty="0" smtClean="0">
                  <a:solidFill>
                    <a:schemeClr val="bg1"/>
                  </a:solidFill>
                </a:rPr>
                <a:t>լոնսդեյլիտ</a:t>
              </a:r>
              <a:endParaRPr lang="en-US" sz="24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70" name="Picture 32">
              <a:extLst>
                <a:ext uri="{FF2B5EF4-FFF2-40B4-BE49-F238E27FC236}">
                  <a16:creationId xmlns:a16="http://schemas.microsoft.com/office/drawing/2014/main" xmlns="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71" name="Group 33">
            <a:extLst>
              <a:ext uri="{FF2B5EF4-FFF2-40B4-BE49-F238E27FC236}">
                <a16:creationId xmlns:a16="http://schemas.microsoft.com/office/drawing/2014/main" xmlns="" id="{0E4F6447-6163-4D6A-A8D2-BD63B6CB3A42}"/>
              </a:ext>
            </a:extLst>
          </p:cNvPr>
          <p:cNvGrpSpPr/>
          <p:nvPr/>
        </p:nvGrpSpPr>
        <p:grpSpPr>
          <a:xfrm>
            <a:off x="1026683" y="-1"/>
            <a:ext cx="9574094" cy="6858000"/>
            <a:chOff x="491575" y="0"/>
            <a:chExt cx="9574094" cy="6858000"/>
          </a:xfrm>
        </p:grpSpPr>
        <p:sp>
          <p:nvSpPr>
            <p:cNvPr id="172" name="Rectangle 34">
              <a:extLst>
                <a:ext uri="{FF2B5EF4-FFF2-40B4-BE49-F238E27FC236}">
                  <a16:creationId xmlns:a16="http://schemas.microsoft.com/office/drawing/2014/main" xmlns="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Freeform: Shape 35">
              <a:extLst>
                <a:ext uri="{FF2B5EF4-FFF2-40B4-BE49-F238E27FC236}">
                  <a16:creationId xmlns:a16="http://schemas.microsoft.com/office/drawing/2014/main" xmlns="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xmlns="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746453" y="3220388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200" dirty="0">
                  <a:solidFill>
                    <a:schemeClr val="bg1"/>
                  </a:solidFill>
                </a:rPr>
                <a:t>Ֆուլերեն</a:t>
              </a:r>
              <a:endParaRPr lang="en-US" sz="20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75" name="Picture 37">
              <a:extLst>
                <a:ext uri="{FF2B5EF4-FFF2-40B4-BE49-F238E27FC236}">
                  <a16:creationId xmlns:a16="http://schemas.microsoft.com/office/drawing/2014/main" xmlns="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176" name="Rectangle 38">
            <a:extLst>
              <a:ext uri="{FF2B5EF4-FFF2-40B4-BE49-F238E27FC236}">
                <a16:creationId xmlns:a16="http://schemas.microsoft.com/office/drawing/2014/main" xmlns="" id="{71382190-201C-4BAE-91F3-296A26671C96}"/>
              </a:ext>
            </a:extLst>
          </p:cNvPr>
          <p:cNvSpPr/>
          <p:nvPr/>
        </p:nvSpPr>
        <p:spPr>
          <a:xfrm>
            <a:off x="1049703" y="-2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7" name="Group 39">
            <a:extLst>
              <a:ext uri="{FF2B5EF4-FFF2-40B4-BE49-F238E27FC236}">
                <a16:creationId xmlns:a16="http://schemas.microsoft.com/office/drawing/2014/main" xmlns="" id="{3FD3EE0D-FD02-4885-9AC0-03F414A9888F}"/>
              </a:ext>
            </a:extLst>
          </p:cNvPr>
          <p:cNvGrpSpPr/>
          <p:nvPr/>
        </p:nvGrpSpPr>
        <p:grpSpPr>
          <a:xfrm>
            <a:off x="1373337" y="-2"/>
            <a:ext cx="8692331" cy="6858000"/>
            <a:chOff x="718505" y="-1"/>
            <a:chExt cx="8692331" cy="6858000"/>
          </a:xfrm>
        </p:grpSpPr>
        <p:sp>
          <p:nvSpPr>
            <p:cNvPr id="178" name="Rectangle 40">
              <a:extLst>
                <a:ext uri="{FF2B5EF4-FFF2-40B4-BE49-F238E27FC236}">
                  <a16:creationId xmlns:a16="http://schemas.microsoft.com/office/drawing/2014/main" xmlns="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Freeform: Shape 41">
              <a:extLst>
                <a:ext uri="{FF2B5EF4-FFF2-40B4-BE49-F238E27FC236}">
                  <a16:creationId xmlns:a16="http://schemas.microsoft.com/office/drawing/2014/main" xmlns="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xmlns="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948863" y="3267837"/>
              <a:ext cx="2477670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000" dirty="0">
                  <a:solidFill>
                    <a:schemeClr val="bg1"/>
                  </a:solidFill>
                </a:rPr>
                <a:t>նանոխողովակներ</a:t>
              </a:r>
              <a:endParaRPr lang="ru-RU" sz="2000" dirty="0">
                <a:solidFill>
                  <a:schemeClr val="bg1"/>
                </a:solidFill>
              </a:endParaRPr>
            </a:p>
            <a:p>
              <a:pPr algn="ctr"/>
              <a:endParaRPr lang="en-US" sz="300" dirty="0">
                <a:solidFill>
                  <a:schemeClr val="bg1"/>
                </a:solidFill>
              </a:endParaRPr>
            </a:p>
          </p:txBody>
        </p:sp>
        <p:pic>
          <p:nvPicPr>
            <p:cNvPr id="181" name="Picture 43">
              <a:extLst>
                <a:ext uri="{FF2B5EF4-FFF2-40B4-BE49-F238E27FC236}">
                  <a16:creationId xmlns:a16="http://schemas.microsoft.com/office/drawing/2014/main" xmlns="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82" name="Group 44">
            <a:extLst>
              <a:ext uri="{FF2B5EF4-FFF2-40B4-BE49-F238E27FC236}">
                <a16:creationId xmlns:a16="http://schemas.microsoft.com/office/drawing/2014/main" xmlns="" id="{76789F00-2688-429D-926C-15F83152FDBE}"/>
              </a:ext>
            </a:extLst>
          </p:cNvPr>
          <p:cNvGrpSpPr/>
          <p:nvPr/>
        </p:nvGrpSpPr>
        <p:grpSpPr>
          <a:xfrm>
            <a:off x="-383202" y="-2"/>
            <a:ext cx="9927504" cy="6858000"/>
            <a:chOff x="-9337032" y="-1"/>
            <a:chExt cx="9927504" cy="6858000"/>
          </a:xfrm>
        </p:grpSpPr>
        <p:sp>
          <p:nvSpPr>
            <p:cNvPr id="183" name="Rectangle 45">
              <a:extLst>
                <a:ext uri="{FF2B5EF4-FFF2-40B4-BE49-F238E27FC236}">
                  <a16:creationId xmlns:a16="http://schemas.microsoft.com/office/drawing/2014/main" xmlns="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Freeform: Shape 46">
              <a:extLst>
                <a:ext uri="{FF2B5EF4-FFF2-40B4-BE49-F238E27FC236}">
                  <a16:creationId xmlns:a16="http://schemas.microsoft.com/office/drawing/2014/main" xmlns="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xmlns="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3600" b="1" dirty="0" smtClean="0">
                  <a:solidFill>
                    <a:srgbClr val="F0EEF0"/>
                  </a:solidFill>
                  <a:latin typeface="Tw Cen MT" panose="020B0602020104020603" pitchFamily="34" charset="0"/>
                </a:rPr>
                <a:t>վերջ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86" name="Picture 48">
              <a:extLst>
                <a:ext uri="{FF2B5EF4-FFF2-40B4-BE49-F238E27FC236}">
                  <a16:creationId xmlns:a16="http://schemas.microsoft.com/office/drawing/2014/main" xmlns="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3" name="Прямоугольник 2"/>
          <p:cNvSpPr/>
          <p:nvPr/>
        </p:nvSpPr>
        <p:spPr>
          <a:xfrm>
            <a:off x="677798" y="3789717"/>
            <a:ext cx="748762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dirty="0">
                <a:solidFill>
                  <a:schemeClr val="accent5">
                    <a:lumMod val="75000"/>
                  </a:schemeClr>
                </a:solidFill>
              </a:rPr>
              <a:t>Thanks for watching*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132723948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958</TotalTime>
  <Words>81</Words>
  <Application>Microsoft Office PowerPoint</Application>
  <PresentationFormat>Произвольный</PresentationFormat>
  <Paragraphs>57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Zähringer</dc:creator>
  <cp:lastModifiedBy>Noname</cp:lastModifiedBy>
  <cp:revision>46</cp:revision>
  <dcterms:created xsi:type="dcterms:W3CDTF">2017-01-05T13:17:27Z</dcterms:created>
  <dcterms:modified xsi:type="dcterms:W3CDTF">2021-04-16T22:59:32Z</dcterms:modified>
</cp:coreProperties>
</file>